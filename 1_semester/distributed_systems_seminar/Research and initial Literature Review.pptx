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5"/>
  </p:notesMasterIdLst>
  <p:handoutMasterIdLst>
    <p:handoutMasterId r:id="rId1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Rubik" pitchFamily="2" charset="-79"/>
      <p:regular r:id="rId17"/>
      <p:bold r:id="rId18"/>
      <p:italic r:id="rId19"/>
      <p:boldItalic r:id="rId20"/>
    </p:embeddedFont>
    <p:embeddedFont>
      <p:font typeface="Rubik Medium" pitchFamily="2" charset="-79"/>
      <p:regular r:id="rId21"/>
      <p:italic r:id="rId22"/>
    </p:embeddedFont>
  </p:embeddedFontLst>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9" d="100"/>
          <a:sy n="109" d="100"/>
        </p:scale>
        <p:origin x="103" y="212"/>
      </p:cViewPr>
      <p:guideLst/>
    </p:cSldViewPr>
  </p:slideViewPr>
  <p:notesTextViewPr>
    <p:cViewPr>
      <p:scale>
        <a:sx n="1" d="1"/>
        <a:sy n="1" d="1"/>
      </p:scale>
      <p:origin x="0" y="0"/>
    </p:cViewPr>
  </p:notesTextViewPr>
  <p:notesViewPr>
    <p:cSldViewPr snapToGrid="0">
      <p:cViewPr varScale="1">
        <p:scale>
          <a:sx n="87" d="100"/>
          <a:sy n="87" d="100"/>
        </p:scale>
        <p:origin x="3293" y="6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463A576F-31A8-4161-A102-BDDBD0CB1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C2741D92-7750-460E-B31B-653027BC6E3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2D58C1-116B-4911-BACB-E776802E69A8}" type="datetimeFigureOut">
              <a:rPr lang="ru-RU" smtClean="0"/>
              <a:t>07.10.2026</a:t>
            </a:fld>
            <a:endParaRPr lang="ru-RU"/>
          </a:p>
        </p:txBody>
      </p:sp>
      <p:sp>
        <p:nvSpPr>
          <p:cNvPr id="4" name="Нижний колонтитул 3">
            <a:extLst>
              <a:ext uri="{FF2B5EF4-FFF2-40B4-BE49-F238E27FC236}">
                <a16:creationId xmlns:a16="http://schemas.microsoft.com/office/drawing/2014/main" id="{F410EE9E-74E4-4781-8048-E1A416022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72B4AFAA-7541-4459-B472-6B3F33A577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97DB10-9416-482A-B41A-C8D34EB588B1}" type="slidenum">
              <a:rPr lang="ru-RU" smtClean="0"/>
              <a:t>‹#›</a:t>
            </a:fld>
            <a:endParaRPr lang="ru-RU"/>
          </a:p>
        </p:txBody>
      </p:sp>
    </p:spTree>
    <p:extLst>
      <p:ext uri="{BB962C8B-B14F-4D97-AF65-F5344CB8AC3E}">
        <p14:creationId xmlns:p14="http://schemas.microsoft.com/office/powerpoint/2010/main" val="26455748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590DB8-F1C2-4AEC-B6B6-B0B81329753C}" type="datetimeFigureOut">
              <a:rPr lang="ru-RU" smtClean="0"/>
              <a:t>07.10.2026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CBF27C-2E26-4D2A-9E7A-AE45ABF0F854}" type="slidenum">
              <a:rPr lang="ru-RU" smtClean="0"/>
              <a:t>‹#›</a:t>
            </a:fld>
            <a:endParaRPr lang="ru-RU"/>
          </a:p>
        </p:txBody>
      </p:sp>
    </p:spTree>
    <p:extLst>
      <p:ext uri="{BB962C8B-B14F-4D97-AF65-F5344CB8AC3E}">
        <p14:creationId xmlns:p14="http://schemas.microsoft.com/office/powerpoint/2010/main" val="3960531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Topic: what X-Road's trust mechanisms cost per message. Today: the question, the request path, what earlier work measured, the setup I actually use, and the first preliminary numbers with their limits.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X-Road is the data exchange layer Estonia has used since the early 2000s for public services, also used in Finland and other countries; the software is maintained by NIIS. Organisations never call each other directly: each runs a Security Server, and messages go from one Security Server to another, signed, logged and over mutual TLS. The central server distributes the global configuration: who the members are and which certificate authorities, OCSP responders and time-stamping services to trust. Those services are used in the background, not on every message.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it matters: post-quantum migration, decentralised PKI and threshold signatures all propose to change the trust layer, but there is no usable baseline: earlier measurements are end to end or on one machine and not broken down by mechanism, and NIIS publishes no open performance data. RQ3 is narrowed to one host vs separate machines on a local wired network; the wide-area variant is out of scope.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Security Servers sign, verify and log on every message. Time-stamping and certificate status checking are deliberately moved off the request path (Ansper 2013, NIIS docs). In our runs the full configuration made about 2 TSA calls per 1000 messages, while the synchronous time-stamp policy makes one per message per server. The TLS handshake is per message by default: pool-enable-connection-reuse and server-support-clients-pooled-connections are both false in UG-SYSPAR, confirmed with tcpdump.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Ansper et al. give the rationale for moving time-stamping and status checking off the request path. Mironova documents production intervals (global configuration 6 h, OCSP freshness 8 h in 2017). Taklai and Bakhtina measure end to end, on one machine in Bakhtina's case, which the authors list as a limitation. Snetkov gives sizes but no timings.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works outside X-Road, as suggested. Naylor et al. frame the TLS question: the handshake and the per-request work are different costs, and connection reuse decides how often the handshake is paid. Georges et al. justify the procedure: the Security Server runs on the JVM, so we warm up, repeat independent runs and report the spread.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comparison is read only for what it changes. synctsa changes when the time-stamp is taken, not just whether TSA is used, and runs on a local test TSA. reuse sets pool-enable-connection-reuse and server-support-clients-pooled-connections, as in the Finnish package; the Estonian package keeps the defaults. The short-OCSP attempt failed: the client proxy never queries the responder itself.</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Bytes are counted with iptables counters on the consumer SS for traffic to the provider's port 5500 only. Cleanup waits until every logged message has a time stamp, so deferred time-stamping is not cut off between runs. CPU power mode turned out to matter a lot, so it is now fixed and written into each run's metadata.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switch is also connected to the office network, which gives the laptops their university addresses for access, but traffic between the laptops is switched locally. Each container is pinned to an address in 10.10.0.0/24. For RQ3 the same stand also runs entirely on l2, so hardware and power mode are the same and only the network differs.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table as differences from full on the same night and machines. X-Road adds about 27 ms at 10 KB and about 64 ms at 1 MB over the direct call. Logging bodies matters only for large messages. The synchronous time-stamp policy is the most expensive setting, but it is a different policy on a local test TSA. Preliminary: one testbed, old CPUs, local CA and TSA, which make the numbers optimistic.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Prompted by the advice to separate TLS setup from per-request work. reuse changes only whether connections between the Security Servers are reused, so the difference is the handshake (local network, RSA-2048 certificates). With reuse there were 3 failed requests out of about 63 000 measured, likely a pooled connection already closed by the other side; to be checked.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power-mode effect was the biggest surprise: on a lightly loaded machine the CPU stayed at low clock speed, and every stage of the request was 2 to 2.5 times slower according to operational monitoring. It looked like network overhead until the stage breakdown showed that purely computational stages slowed down too. All environments are being re-measured in performance mode.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results are expected by the end of the week. The one-host run on l2 uses the same CPU and power mode as the three-machine run, so the difference between them isolates the network. Concurrency results will be reported as ceilings with their spread.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ru-RU"/>
              <a:t>Образец заголовка</a:t>
            </a:r>
            <a:endParaRPr lang="ru-RU" dirty="0"/>
          </a:p>
        </p:txBody>
      </p:sp>
      <p:sp>
        <p:nvSpPr>
          <p:cNvPr id="3" name="Подзаголовок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endParaRPr lang="ru-RU"/>
          </a:p>
        </p:txBody>
      </p:sp>
      <p:sp>
        <p:nvSpPr>
          <p:cNvPr id="7" name="Номер слайда 12">
            <a:extLst>
              <a:ext uri="{FF2B5EF4-FFF2-40B4-BE49-F238E27FC236}">
                <a16:creationId xmlns:a16="http://schemas.microsoft.com/office/drawing/2014/main" id="{DBD32204-878E-439A-8D1B-EE58E1E611ED}"/>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3858238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a:lstStyle/>
          <a:p>
            <a:r>
              <a:rPr lang="ru-RU"/>
              <a:t>Образец заголовка</a:t>
            </a:r>
          </a:p>
        </p:txBody>
      </p:sp>
      <p:sp>
        <p:nvSpPr>
          <p:cNvPr id="3" name="Объект 2"/>
          <p:cNvSpPr>
            <a:spLocks noGrp="1"/>
          </p:cNvSpPr>
          <p:nvPr>
            <p:ph idx="1"/>
          </p:nvPr>
        </p:nvSpPr>
        <p:spPr>
          <a:xfrm>
            <a:off x="838200" y="1825625"/>
            <a:ext cx="10515600" cy="4351338"/>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endParaRPr lang="ru-RU"/>
          </a:p>
        </p:txBody>
      </p:sp>
      <p:pic>
        <p:nvPicPr>
          <p:cNvPr id="8" name="Рисунок 7">
            <a:extLst>
              <a:ext uri="{FF2B5EF4-FFF2-40B4-BE49-F238E27FC236}">
                <a16:creationId xmlns:a16="http://schemas.microsoft.com/office/drawing/2014/main" id="{9AFB93A1-5BB8-45D2-A2BC-EC42AC8415B0}"/>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10" name="Рисунок 9">
            <a:extLst>
              <a:ext uri="{FF2B5EF4-FFF2-40B4-BE49-F238E27FC236}">
                <a16:creationId xmlns:a16="http://schemas.microsoft.com/office/drawing/2014/main" id="{5D082DF8-5434-4695-BF9F-2F4A125B046B}"/>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11" name="Номер слайда 12">
            <a:extLst>
              <a:ext uri="{FF2B5EF4-FFF2-40B4-BE49-F238E27FC236}">
                <a16:creationId xmlns:a16="http://schemas.microsoft.com/office/drawing/2014/main" id="{627A505C-941A-4649-9BFE-6D49516B1611}"/>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37542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a:prstGeom prst="rect">
            <a:avLst/>
          </a:prstGeo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endParaRPr lang="ru-RU"/>
          </a:p>
        </p:txBody>
      </p:sp>
      <p:pic>
        <p:nvPicPr>
          <p:cNvPr id="7" name="Рисунок 6">
            <a:extLst>
              <a:ext uri="{FF2B5EF4-FFF2-40B4-BE49-F238E27FC236}">
                <a16:creationId xmlns:a16="http://schemas.microsoft.com/office/drawing/2014/main" id="{350AB1CC-ED34-4549-9946-71D4B95EDC7D}"/>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8" name="Рисунок 7">
            <a:extLst>
              <a:ext uri="{FF2B5EF4-FFF2-40B4-BE49-F238E27FC236}">
                <a16:creationId xmlns:a16="http://schemas.microsoft.com/office/drawing/2014/main" id="{05422E07-9587-4DFC-8FAD-AAA169F1C221}"/>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9" name="Номер слайда 12">
            <a:extLst>
              <a:ext uri="{FF2B5EF4-FFF2-40B4-BE49-F238E27FC236}">
                <a16:creationId xmlns:a16="http://schemas.microsoft.com/office/drawing/2014/main" id="{5B4CB7AD-1E25-43F7-977E-5F1B84BEE3CE}"/>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2049248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6" name="Нижний колонтитул 5"/>
          <p:cNvSpPr>
            <a:spLocks noGrp="1"/>
          </p:cNvSpPr>
          <p:nvPr>
            <p:ph type="ftr" sz="quarter" idx="11"/>
          </p:nvPr>
        </p:nvSpPr>
        <p:spPr>
          <a:xfrm>
            <a:off x="4038600" y="6356350"/>
            <a:ext cx="4114800" cy="365125"/>
          </a:xfrm>
          <a:prstGeom prst="rect">
            <a:avLst/>
          </a:prstGeom>
        </p:spPr>
        <p:txBody>
          <a:bodyPr/>
          <a:lstStyle/>
          <a:p>
            <a:endParaRPr lang="ru-RU"/>
          </a:p>
        </p:txBody>
      </p:sp>
      <p:pic>
        <p:nvPicPr>
          <p:cNvPr id="8" name="Рисунок 7">
            <a:extLst>
              <a:ext uri="{FF2B5EF4-FFF2-40B4-BE49-F238E27FC236}">
                <a16:creationId xmlns:a16="http://schemas.microsoft.com/office/drawing/2014/main" id="{8688132E-AC7D-4D16-AB27-E767F80D6D6E}"/>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9" name="Рисунок 8">
            <a:extLst>
              <a:ext uri="{FF2B5EF4-FFF2-40B4-BE49-F238E27FC236}">
                <a16:creationId xmlns:a16="http://schemas.microsoft.com/office/drawing/2014/main" id="{83D8FCC9-749A-47A9-811F-AAE14707DB5F}"/>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10" name="Номер слайда 12">
            <a:extLst>
              <a:ext uri="{FF2B5EF4-FFF2-40B4-BE49-F238E27FC236}">
                <a16:creationId xmlns:a16="http://schemas.microsoft.com/office/drawing/2014/main" id="{3A5101A6-EF0E-4300-B806-94E6BD61600F}"/>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4024285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a:prstGeom prst="rect">
            <a:avLst/>
          </a:prstGeo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a:prstGeom prst="rect">
            <a:avLst/>
          </a:prstGeo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8" name="Нижний колонтитул 7"/>
          <p:cNvSpPr>
            <a:spLocks noGrp="1"/>
          </p:cNvSpPr>
          <p:nvPr>
            <p:ph type="ftr" sz="quarter" idx="11"/>
          </p:nvPr>
        </p:nvSpPr>
        <p:spPr>
          <a:xfrm>
            <a:off x="4038600" y="6356350"/>
            <a:ext cx="4114800" cy="365125"/>
          </a:xfrm>
          <a:prstGeom prst="rect">
            <a:avLst/>
          </a:prstGeom>
        </p:spPr>
        <p:txBody>
          <a:bodyPr/>
          <a:lstStyle/>
          <a:p>
            <a:endParaRPr lang="ru-RU"/>
          </a:p>
        </p:txBody>
      </p:sp>
      <p:pic>
        <p:nvPicPr>
          <p:cNvPr id="10" name="Рисунок 9">
            <a:extLst>
              <a:ext uri="{FF2B5EF4-FFF2-40B4-BE49-F238E27FC236}">
                <a16:creationId xmlns:a16="http://schemas.microsoft.com/office/drawing/2014/main" id="{6A600698-F847-4D26-BC61-AD0A2A0D4F07}"/>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11" name="Рисунок 10">
            <a:extLst>
              <a:ext uri="{FF2B5EF4-FFF2-40B4-BE49-F238E27FC236}">
                <a16:creationId xmlns:a16="http://schemas.microsoft.com/office/drawing/2014/main" id="{823F8D2C-35E4-49E6-9C96-A2721AF60658}"/>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12" name="Номер слайда 12">
            <a:extLst>
              <a:ext uri="{FF2B5EF4-FFF2-40B4-BE49-F238E27FC236}">
                <a16:creationId xmlns:a16="http://schemas.microsoft.com/office/drawing/2014/main" id="{A7A509AE-8CFF-45BE-BB42-4115C5B72C49}"/>
              </a:ext>
            </a:extLst>
          </p:cNvPr>
          <p:cNvSpPr>
            <a:spLocks noGrp="1"/>
          </p:cNvSpPr>
          <p:nvPr>
            <p:ph type="sldNum" sz="quarter" idx="12"/>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224638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a:lstStyle/>
          <a:p>
            <a:r>
              <a:rPr lang="ru-RU"/>
              <a:t>Образец заголовка</a:t>
            </a:r>
          </a:p>
        </p:txBody>
      </p:sp>
      <p:sp>
        <p:nvSpPr>
          <p:cNvPr id="3" name="Дата 2"/>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4" name="Нижний колонтитул 3"/>
          <p:cNvSpPr>
            <a:spLocks noGrp="1"/>
          </p:cNvSpPr>
          <p:nvPr>
            <p:ph type="ftr" sz="quarter" idx="11"/>
          </p:nvPr>
        </p:nvSpPr>
        <p:spPr>
          <a:xfrm>
            <a:off x="4038600" y="6356350"/>
            <a:ext cx="4114800" cy="365125"/>
          </a:xfrm>
          <a:prstGeom prst="rect">
            <a:avLst/>
          </a:prstGeom>
        </p:spPr>
        <p:txBody>
          <a:bodyPr/>
          <a:lstStyle/>
          <a:p>
            <a:endParaRPr lang="ru-RU"/>
          </a:p>
        </p:txBody>
      </p:sp>
      <p:pic>
        <p:nvPicPr>
          <p:cNvPr id="6" name="Рисунок 5">
            <a:extLst>
              <a:ext uri="{FF2B5EF4-FFF2-40B4-BE49-F238E27FC236}">
                <a16:creationId xmlns:a16="http://schemas.microsoft.com/office/drawing/2014/main" id="{BDDCFB30-89DE-4159-8C80-BEBF745A46FD}"/>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7" name="Рисунок 6">
            <a:extLst>
              <a:ext uri="{FF2B5EF4-FFF2-40B4-BE49-F238E27FC236}">
                <a16:creationId xmlns:a16="http://schemas.microsoft.com/office/drawing/2014/main" id="{6E796D94-F75B-47AD-B12D-A80F68BDE87B}"/>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8" name="Номер слайда 12">
            <a:extLst>
              <a:ext uri="{FF2B5EF4-FFF2-40B4-BE49-F238E27FC236}">
                <a16:creationId xmlns:a16="http://schemas.microsoft.com/office/drawing/2014/main" id="{018C3F88-AE2E-42DF-8DA7-425A0B9C58CF}"/>
              </a:ext>
            </a:extLst>
          </p:cNvPr>
          <p:cNvSpPr txBox="1">
            <a:spLocks/>
          </p:cNvSpPr>
          <p:nvPr userDrawn="1"/>
        </p:nvSpPr>
        <p:spPr>
          <a:xfrm>
            <a:off x="11657130" y="6378362"/>
            <a:ext cx="452043" cy="365125"/>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8FD0B4-C8B5-49FA-9069-59F321B807B8}" type="slidenum">
              <a:rPr lang="ru-RU" smtClean="0"/>
              <a:pPr/>
              <a:t>‹#›</a:t>
            </a:fld>
            <a:endParaRPr lang="ru-RU" dirty="0"/>
          </a:p>
        </p:txBody>
      </p:sp>
    </p:spTree>
    <p:extLst>
      <p:ext uri="{BB962C8B-B14F-4D97-AF65-F5344CB8AC3E}">
        <p14:creationId xmlns:p14="http://schemas.microsoft.com/office/powerpoint/2010/main" val="62408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3" name="Нижний колонтитул 2"/>
          <p:cNvSpPr>
            <a:spLocks noGrp="1"/>
          </p:cNvSpPr>
          <p:nvPr>
            <p:ph type="ftr" sz="quarter" idx="11"/>
          </p:nvPr>
        </p:nvSpPr>
        <p:spPr>
          <a:xfrm>
            <a:off x="4038600" y="6356350"/>
            <a:ext cx="4114800" cy="365125"/>
          </a:xfrm>
          <a:prstGeom prst="rect">
            <a:avLst/>
          </a:prstGeom>
        </p:spPr>
        <p:txBody>
          <a:bodyPr/>
          <a:lstStyle/>
          <a:p>
            <a:endParaRPr lang="ru-RU"/>
          </a:p>
        </p:txBody>
      </p:sp>
      <p:pic>
        <p:nvPicPr>
          <p:cNvPr id="5" name="Рисунок 4">
            <a:extLst>
              <a:ext uri="{FF2B5EF4-FFF2-40B4-BE49-F238E27FC236}">
                <a16:creationId xmlns:a16="http://schemas.microsoft.com/office/drawing/2014/main" id="{3D7CEC24-6144-41C8-9DED-2C7DD3554CE6}"/>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6" name="Рисунок 5">
            <a:extLst>
              <a:ext uri="{FF2B5EF4-FFF2-40B4-BE49-F238E27FC236}">
                <a16:creationId xmlns:a16="http://schemas.microsoft.com/office/drawing/2014/main" id="{8567B8B5-EC04-4821-884F-CDC365AE24FD}"/>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7" name="Номер слайда 12">
            <a:extLst>
              <a:ext uri="{FF2B5EF4-FFF2-40B4-BE49-F238E27FC236}">
                <a16:creationId xmlns:a16="http://schemas.microsoft.com/office/drawing/2014/main" id="{4558F23B-0B0A-4523-9EC1-25F871BB4885}"/>
              </a:ext>
            </a:extLst>
          </p:cNvPr>
          <p:cNvSpPr txBox="1">
            <a:spLocks/>
          </p:cNvSpPr>
          <p:nvPr userDrawn="1"/>
        </p:nvSpPr>
        <p:spPr>
          <a:xfrm>
            <a:off x="11657130" y="6378362"/>
            <a:ext cx="452043" cy="365125"/>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8FD0B4-C8B5-49FA-9069-59F321B807B8}" type="slidenum">
              <a:rPr lang="ru-RU" smtClean="0"/>
              <a:pPr/>
              <a:t>‹#›</a:t>
            </a:fld>
            <a:endParaRPr lang="ru-RU" dirty="0"/>
          </a:p>
        </p:txBody>
      </p:sp>
    </p:spTree>
    <p:extLst>
      <p:ext uri="{BB962C8B-B14F-4D97-AF65-F5344CB8AC3E}">
        <p14:creationId xmlns:p14="http://schemas.microsoft.com/office/powerpoint/2010/main" val="4193872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a:prstGeom prst="rect">
            <a:avLst/>
          </a:prstGeo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6" name="Нижний колонтитул 5"/>
          <p:cNvSpPr>
            <a:spLocks noGrp="1"/>
          </p:cNvSpPr>
          <p:nvPr>
            <p:ph type="ftr" sz="quarter" idx="11"/>
          </p:nvPr>
        </p:nvSpPr>
        <p:spPr>
          <a:xfrm>
            <a:off x="4038600" y="6356350"/>
            <a:ext cx="4114800" cy="365125"/>
          </a:xfrm>
          <a:prstGeom prst="rect">
            <a:avLst/>
          </a:prstGeom>
        </p:spPr>
        <p:txBody>
          <a:bodyPr/>
          <a:lstStyle/>
          <a:p>
            <a:endParaRPr lang="ru-RU"/>
          </a:p>
        </p:txBody>
      </p:sp>
      <p:pic>
        <p:nvPicPr>
          <p:cNvPr id="8" name="Рисунок 7">
            <a:extLst>
              <a:ext uri="{FF2B5EF4-FFF2-40B4-BE49-F238E27FC236}">
                <a16:creationId xmlns:a16="http://schemas.microsoft.com/office/drawing/2014/main" id="{6B3D3A7D-190C-4EC7-8B64-E58D90395BFA}"/>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9" name="Рисунок 8">
            <a:extLst>
              <a:ext uri="{FF2B5EF4-FFF2-40B4-BE49-F238E27FC236}">
                <a16:creationId xmlns:a16="http://schemas.microsoft.com/office/drawing/2014/main" id="{72E6B739-8EAE-46DC-8B14-FEE7D151A50C}"/>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10" name="Номер слайда 12">
            <a:extLst>
              <a:ext uri="{FF2B5EF4-FFF2-40B4-BE49-F238E27FC236}">
                <a16:creationId xmlns:a16="http://schemas.microsoft.com/office/drawing/2014/main" id="{0EAE3A75-705C-46AE-9646-7E511CFB8E85}"/>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3169022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a:prstGeom prst="rect">
            <a:avLst/>
          </a:prstGeo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p>
        </p:txBody>
      </p:sp>
      <p:sp>
        <p:nvSpPr>
          <p:cNvPr id="4" name="Текст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6" name="Нижний колонтитул 5"/>
          <p:cNvSpPr>
            <a:spLocks noGrp="1"/>
          </p:cNvSpPr>
          <p:nvPr>
            <p:ph type="ftr" sz="quarter" idx="11"/>
          </p:nvPr>
        </p:nvSpPr>
        <p:spPr>
          <a:xfrm>
            <a:off x="4038600" y="6356350"/>
            <a:ext cx="4114800" cy="365125"/>
          </a:xfrm>
          <a:prstGeom prst="rect">
            <a:avLst/>
          </a:prstGeom>
        </p:spPr>
        <p:txBody>
          <a:bodyPr/>
          <a:lstStyle/>
          <a:p>
            <a:endParaRPr lang="ru-RU"/>
          </a:p>
        </p:txBody>
      </p:sp>
      <p:pic>
        <p:nvPicPr>
          <p:cNvPr id="8" name="Рисунок 7">
            <a:extLst>
              <a:ext uri="{FF2B5EF4-FFF2-40B4-BE49-F238E27FC236}">
                <a16:creationId xmlns:a16="http://schemas.microsoft.com/office/drawing/2014/main" id="{F8FD1C4C-4BE0-4C19-9883-56D4448CD244}"/>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9" name="Рисунок 8">
            <a:extLst>
              <a:ext uri="{FF2B5EF4-FFF2-40B4-BE49-F238E27FC236}">
                <a16:creationId xmlns:a16="http://schemas.microsoft.com/office/drawing/2014/main" id="{BC45B953-807B-47AC-8089-C0AE1303BAB1}"/>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11" name="Номер слайда 12">
            <a:extLst>
              <a:ext uri="{FF2B5EF4-FFF2-40B4-BE49-F238E27FC236}">
                <a16:creationId xmlns:a16="http://schemas.microsoft.com/office/drawing/2014/main" id="{60CF2950-D330-4D71-9CEF-5737A18AAFE4}"/>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3872574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a:lstStyle/>
          <a:p>
            <a:r>
              <a:rPr lang="ru-RU"/>
              <a:t>Образец заголовка</a:t>
            </a:r>
          </a:p>
        </p:txBody>
      </p:sp>
      <p:sp>
        <p:nvSpPr>
          <p:cNvPr id="3" name="Вертикальный текст 2"/>
          <p:cNvSpPr>
            <a:spLocks noGrp="1"/>
          </p:cNvSpPr>
          <p:nvPr>
            <p:ph type="body" orient="vert" idx="1"/>
          </p:nvPr>
        </p:nvSpPr>
        <p:spPr>
          <a:xfrm>
            <a:off x="838200" y="1825625"/>
            <a:ext cx="10515600" cy="4351338"/>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endParaRPr lang="ru-RU"/>
          </a:p>
        </p:txBody>
      </p:sp>
      <p:pic>
        <p:nvPicPr>
          <p:cNvPr id="7" name="Рисунок 6">
            <a:extLst>
              <a:ext uri="{FF2B5EF4-FFF2-40B4-BE49-F238E27FC236}">
                <a16:creationId xmlns:a16="http://schemas.microsoft.com/office/drawing/2014/main" id="{A5BBA454-1665-41D9-B7EA-4C215A28E6BB}"/>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8" name="Рисунок 7">
            <a:extLst>
              <a:ext uri="{FF2B5EF4-FFF2-40B4-BE49-F238E27FC236}">
                <a16:creationId xmlns:a16="http://schemas.microsoft.com/office/drawing/2014/main" id="{B5B768EC-F7CB-4CAF-BE30-95458BE3C80A}"/>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9" name="Номер слайда 12">
            <a:extLst>
              <a:ext uri="{FF2B5EF4-FFF2-40B4-BE49-F238E27FC236}">
                <a16:creationId xmlns:a16="http://schemas.microsoft.com/office/drawing/2014/main" id="{1DA993CD-4E1D-4698-BB56-FE14C8975736}"/>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33006328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a:prstGeom prst="rect">
            <a:avLst/>
          </a:prstGeo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838200" y="6356350"/>
            <a:ext cx="2743200" cy="365125"/>
          </a:xfrm>
          <a:prstGeom prst="rect">
            <a:avLst/>
          </a:prstGeom>
        </p:spPr>
        <p:txBody>
          <a:bodyPr/>
          <a:lstStyle/>
          <a:p>
            <a:fld id="{3D812BB6-9262-465B-B360-DD4857339B9F}" type="datetimeFigureOut">
              <a:rPr lang="ru-RU" smtClean="0"/>
              <a:t>07.10.2026</a:t>
            </a:fld>
            <a:endParaRPr lang="ru-RU"/>
          </a:p>
        </p:txBody>
      </p:sp>
      <p:sp>
        <p:nvSpPr>
          <p:cNvPr id="5" name="Нижний колонтитул 4"/>
          <p:cNvSpPr>
            <a:spLocks noGrp="1"/>
          </p:cNvSpPr>
          <p:nvPr>
            <p:ph type="ftr" sz="quarter" idx="11"/>
          </p:nvPr>
        </p:nvSpPr>
        <p:spPr>
          <a:xfrm>
            <a:off x="4038600" y="6356350"/>
            <a:ext cx="4114800" cy="365125"/>
          </a:xfrm>
          <a:prstGeom prst="rect">
            <a:avLst/>
          </a:prstGeom>
        </p:spPr>
        <p:txBody>
          <a:bodyPr/>
          <a:lstStyle/>
          <a:p>
            <a:endParaRPr lang="ru-RU"/>
          </a:p>
        </p:txBody>
      </p:sp>
      <p:pic>
        <p:nvPicPr>
          <p:cNvPr id="7" name="Рисунок 6">
            <a:extLst>
              <a:ext uri="{FF2B5EF4-FFF2-40B4-BE49-F238E27FC236}">
                <a16:creationId xmlns:a16="http://schemas.microsoft.com/office/drawing/2014/main" id="{F09B15D2-EE9F-4E0C-8322-1E6DDE5C659D}"/>
              </a:ext>
            </a:extLst>
          </p:cNvPr>
          <p:cNvPicPr>
            <a:picLocks noChangeAspect="1"/>
          </p:cNvPicPr>
          <p:nvPr userDrawn="1"/>
        </p:nvPicPr>
        <p:blipFill>
          <a:blip r:embed="rId3"/>
          <a:stretch>
            <a:fillRect/>
          </a:stretch>
        </p:blipFill>
        <p:spPr>
          <a:xfrm>
            <a:off x="11657133" y="6532842"/>
            <a:ext cx="534867" cy="319195"/>
          </a:xfrm>
          <a:prstGeom prst="rect">
            <a:avLst/>
          </a:prstGeom>
        </p:spPr>
      </p:pic>
      <p:pic>
        <p:nvPicPr>
          <p:cNvPr id="8" name="Рисунок 7">
            <a:extLst>
              <a:ext uri="{FF2B5EF4-FFF2-40B4-BE49-F238E27FC236}">
                <a16:creationId xmlns:a16="http://schemas.microsoft.com/office/drawing/2014/main" id="{E69F2FF1-3058-4B7D-B5D7-91EA409BF273}"/>
              </a:ext>
            </a:extLst>
          </p:cNvPr>
          <p:cNvPicPr>
            <a:picLocks noChangeAspect="1"/>
          </p:cNvPicPr>
          <p:nvPr userDrawn="1"/>
        </p:nvPicPr>
        <p:blipFill>
          <a:blip r:embed="rId3"/>
          <a:stretch>
            <a:fillRect/>
          </a:stretch>
        </p:blipFill>
        <p:spPr>
          <a:xfrm>
            <a:off x="11543566" y="6213647"/>
            <a:ext cx="534867" cy="319195"/>
          </a:xfrm>
          <a:prstGeom prst="rect">
            <a:avLst/>
          </a:prstGeom>
        </p:spPr>
      </p:pic>
      <p:sp>
        <p:nvSpPr>
          <p:cNvPr id="9" name="Номер слайда 12">
            <a:extLst>
              <a:ext uri="{FF2B5EF4-FFF2-40B4-BE49-F238E27FC236}">
                <a16:creationId xmlns:a16="http://schemas.microsoft.com/office/drawing/2014/main" id="{5A319A89-81A2-4044-80BD-528AB932367E}"/>
              </a:ext>
            </a:extLst>
          </p:cNvPr>
          <p:cNvSpPr txBox="1">
            <a:spLocks/>
          </p:cNvSpPr>
          <p:nvPr userDrawn="1"/>
        </p:nvSpPr>
        <p:spPr>
          <a:xfrm>
            <a:off x="11657130" y="6378362"/>
            <a:ext cx="452043" cy="365125"/>
          </a:xfrm>
          <a:prstGeom prst="rect">
            <a:avLst/>
          </a:prstGeom>
        </p:spPr>
        <p:txBody>
          <a:bodyPr vert="horz" lIns="91440" tIns="45720" rIns="91440" bIns="45720" rtlCol="0" anchor="ctr"/>
          <a:lstStyle>
            <a:defPPr>
              <a:defRPr lang="ru-RU"/>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8FD0B4-C8B5-49FA-9069-59F321B807B8}" type="slidenum">
              <a:rPr lang="ru-RU" smtClean="0"/>
              <a:pPr/>
              <a:t>‹#›</a:t>
            </a:fld>
            <a:endParaRPr lang="ru-RU" dirty="0"/>
          </a:p>
        </p:txBody>
      </p:sp>
    </p:spTree>
    <p:extLst>
      <p:ext uri="{BB962C8B-B14F-4D97-AF65-F5344CB8AC3E}">
        <p14:creationId xmlns:p14="http://schemas.microsoft.com/office/powerpoint/2010/main" val="372856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pic>
        <p:nvPicPr>
          <p:cNvPr id="8" name="Рисунок 7">
            <a:extLst>
              <a:ext uri="{FF2B5EF4-FFF2-40B4-BE49-F238E27FC236}">
                <a16:creationId xmlns:a16="http://schemas.microsoft.com/office/drawing/2014/main" id="{0C9B6647-816B-4AB1-9F0E-1DF0BBCEAACE}"/>
              </a:ext>
            </a:extLst>
          </p:cNvPr>
          <p:cNvPicPr>
            <a:picLocks noChangeAspect="1"/>
          </p:cNvPicPr>
          <p:nvPr userDrawn="1"/>
        </p:nvPicPr>
        <p:blipFill>
          <a:blip r:embed="rId14"/>
          <a:stretch>
            <a:fillRect/>
          </a:stretch>
        </p:blipFill>
        <p:spPr>
          <a:xfrm>
            <a:off x="281937" y="0"/>
            <a:ext cx="3088426" cy="465852"/>
          </a:xfrm>
          <a:prstGeom prst="rect">
            <a:avLst/>
          </a:prstGeom>
        </p:spPr>
      </p:pic>
      <p:pic>
        <p:nvPicPr>
          <p:cNvPr id="12" name="Рисунок 11">
            <a:extLst>
              <a:ext uri="{FF2B5EF4-FFF2-40B4-BE49-F238E27FC236}">
                <a16:creationId xmlns:a16="http://schemas.microsoft.com/office/drawing/2014/main" id="{9CE39A52-64BC-4244-9060-C5387A0EF874}"/>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03367" y="95110"/>
            <a:ext cx="2727297" cy="370742"/>
          </a:xfrm>
          <a:prstGeom prst="rect">
            <a:avLst/>
          </a:prstGeom>
        </p:spPr>
      </p:pic>
      <p:pic>
        <p:nvPicPr>
          <p:cNvPr id="15" name="Рисунок 14">
            <a:extLst>
              <a:ext uri="{FF2B5EF4-FFF2-40B4-BE49-F238E27FC236}">
                <a16:creationId xmlns:a16="http://schemas.microsoft.com/office/drawing/2014/main" id="{0A7F3045-258A-4BB1-9555-7B98A4A168F8}"/>
              </a:ext>
            </a:extLst>
          </p:cNvPr>
          <p:cNvPicPr>
            <a:picLocks noChangeAspect="1"/>
          </p:cNvPicPr>
          <p:nvPr userDrawn="1"/>
        </p:nvPicPr>
        <p:blipFill>
          <a:blip r:embed="rId16"/>
          <a:stretch>
            <a:fillRect/>
          </a:stretch>
        </p:blipFill>
        <p:spPr>
          <a:xfrm>
            <a:off x="11657133" y="6378362"/>
            <a:ext cx="534867" cy="319195"/>
          </a:xfrm>
          <a:prstGeom prst="rect">
            <a:avLst/>
          </a:prstGeom>
        </p:spPr>
      </p:pic>
      <p:pic>
        <p:nvPicPr>
          <p:cNvPr id="17" name="Рисунок 16">
            <a:extLst>
              <a:ext uri="{FF2B5EF4-FFF2-40B4-BE49-F238E27FC236}">
                <a16:creationId xmlns:a16="http://schemas.microsoft.com/office/drawing/2014/main" id="{3CFA4191-011A-4845-8EB5-F6D569B0B711}"/>
              </a:ext>
            </a:extLst>
          </p:cNvPr>
          <p:cNvPicPr>
            <a:picLocks noChangeAspect="1"/>
          </p:cNvPicPr>
          <p:nvPr userDrawn="1"/>
        </p:nvPicPr>
        <p:blipFill>
          <a:blip r:embed="rId16"/>
          <a:stretch>
            <a:fillRect/>
          </a:stretch>
        </p:blipFill>
        <p:spPr>
          <a:xfrm>
            <a:off x="11657132" y="6059167"/>
            <a:ext cx="534867" cy="319195"/>
          </a:xfrm>
          <a:prstGeom prst="rect">
            <a:avLst/>
          </a:prstGeom>
        </p:spPr>
      </p:pic>
      <p:sp>
        <p:nvSpPr>
          <p:cNvPr id="13" name="Номер слайда 12">
            <a:extLst>
              <a:ext uri="{FF2B5EF4-FFF2-40B4-BE49-F238E27FC236}">
                <a16:creationId xmlns:a16="http://schemas.microsoft.com/office/drawing/2014/main" id="{77427B15-C4E8-46CB-ACFC-0F2A8A387DC8}"/>
              </a:ext>
            </a:extLst>
          </p:cNvPr>
          <p:cNvSpPr>
            <a:spLocks noGrp="1"/>
          </p:cNvSpPr>
          <p:nvPr>
            <p:ph type="sldNum" sz="quarter" idx="4"/>
          </p:nvPr>
        </p:nvSpPr>
        <p:spPr>
          <a:xfrm>
            <a:off x="11657130" y="6378362"/>
            <a:ext cx="45204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8FD0B4-C8B5-49FA-9069-59F321B807B8}" type="slidenum">
              <a:rPr lang="ru-RU" smtClean="0"/>
              <a:t>‹#›</a:t>
            </a:fld>
            <a:endParaRPr lang="ru-RU" dirty="0"/>
          </a:p>
        </p:txBody>
      </p:sp>
    </p:spTree>
    <p:extLst>
      <p:ext uri="{BB962C8B-B14F-4D97-AF65-F5344CB8AC3E}">
        <p14:creationId xmlns:p14="http://schemas.microsoft.com/office/powerpoint/2010/main" val="432858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94560" y="1965960"/>
            <a:ext cx="7955279" cy="1600200"/>
          </a:xfrm>
        </p:spPr>
        <p:txBody>
          <a:bodyPr anchor="b"/>
          <a:lstStyle/>
          <a:p>
            <a:pPr algn="l"/>
            <a:r>
              <a:rPr sz="3600" b="0">
                <a:solidFill>
                  <a:srgbClr val="1B365D"/>
                </a:solidFill>
              </a:rPr>
              <a:t>Measuring the Overhead of Trust Mechanisms in the X-Road Data Exchange Layer</a:t>
            </a:r>
          </a:p>
        </p:txBody>
      </p:sp>
      <p:sp>
        <p:nvSpPr>
          <p:cNvPr id="3" name="Subtitle 2"/>
          <p:cNvSpPr>
            <a:spLocks noGrp="1"/>
          </p:cNvSpPr>
          <p:nvPr>
            <p:ph type="subTitle" idx="1"/>
          </p:nvPr>
        </p:nvSpPr>
        <p:spPr>
          <a:xfrm>
            <a:off x="2194560" y="3657600"/>
            <a:ext cx="7955279" cy="1371600"/>
          </a:xfrm>
        </p:spPr>
        <p:txBody>
          <a:bodyPr/>
          <a:lstStyle/>
          <a:p>
            <a:pPr algn="l">
              <a:spcAft>
                <a:spcPts val="1000"/>
              </a:spcAft>
            </a:pPr>
            <a:r>
              <a:rPr sz="2200" b="0" i="0" dirty="0">
                <a:solidFill>
                  <a:srgbClr val="666666"/>
                </a:solidFill>
              </a:rPr>
              <a:t>Research plan, related work and preliminary measurements</a:t>
            </a:r>
          </a:p>
          <a:p>
            <a:pPr algn="l">
              <a:spcAft>
                <a:spcPts val="600"/>
              </a:spcAft>
            </a:pPr>
            <a:r>
              <a:rPr sz="1800" b="0" i="0" dirty="0">
                <a:solidFill>
                  <a:srgbClr val="333333"/>
                </a:solidFill>
                <a:latin typeface="Rubik Medium"/>
              </a:rPr>
              <a:t>Ruslan </a:t>
            </a:r>
            <a:r>
              <a:rPr sz="1800" b="0" i="0" dirty="0" err="1">
                <a:solidFill>
                  <a:srgbClr val="333333"/>
                </a:solidFill>
                <a:latin typeface="Rubik Medium"/>
              </a:rPr>
              <a:t>Neshchadimov</a:t>
            </a:r>
            <a:r>
              <a:rPr sz="1800" b="0" i="0" dirty="0">
                <a:solidFill>
                  <a:srgbClr val="666666"/>
                </a:solidFill>
              </a:rPr>
              <a:t>  ·  Supervisor: </a:t>
            </a:r>
            <a:r>
              <a:rPr sz="1800" b="0" i="0" dirty="0" err="1">
                <a:solidFill>
                  <a:srgbClr val="666666"/>
                </a:solidFill>
              </a:rPr>
              <a:t>Artjom</a:t>
            </a:r>
            <a:r>
              <a:rPr sz="1800" b="0" i="0" dirty="0">
                <a:solidFill>
                  <a:srgbClr val="666666"/>
                </a:solidFill>
              </a:rPr>
              <a:t> Lind  ·</a:t>
            </a:r>
            <a:r>
              <a:rPr lang="ru-RU" sz="1800" b="0" i="0">
                <a:solidFill>
                  <a:srgbClr val="666666"/>
                </a:solidFill>
              </a:rPr>
              <a:t> </a:t>
            </a:r>
            <a:r>
              <a:rPr sz="1800" b="0" i="0">
                <a:solidFill>
                  <a:srgbClr val="666666"/>
                </a:solidFill>
              </a:rPr>
              <a:t> </a:t>
            </a:r>
            <a:r>
              <a:rPr sz="1800" b="0" i="0" dirty="0">
                <a:solidFill>
                  <a:srgbClr val="666666"/>
                </a:solidFill>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What X-Road is</a:t>
            </a:r>
          </a:p>
        </p:txBody>
      </p:sp>
      <p:sp>
        <p:nvSpPr>
          <p:cNvPr id="3" name="Rounded Rectangle 2"/>
          <p:cNvSpPr/>
          <p:nvPr/>
        </p:nvSpPr>
        <p:spPr>
          <a:xfrm>
            <a:off x="2103120" y="1554480"/>
            <a:ext cx="3291840" cy="9144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2212848" y="1627632"/>
            <a:ext cx="3072384" cy="768096"/>
          </a:xfrm>
          <a:prstGeom prst="rect">
            <a:avLst/>
          </a:prstGeom>
          <a:noFill/>
        </p:spPr>
        <p:txBody>
          <a:bodyPr wrap="square" lIns="45720" rIns="45720" anchor="ctr">
            <a:spAutoFit/>
          </a:bodyPr>
          <a:lstStyle/>
          <a:p>
            <a:pPr algn="l">
              <a:spcAft>
                <a:spcPts val="200"/>
              </a:spcAft>
            </a:pPr>
            <a:r>
              <a:rPr sz="1700" b="0" i="0">
                <a:solidFill>
                  <a:srgbClr val="1B365D"/>
                </a:solidFill>
                <a:latin typeface="Rubik Medium"/>
              </a:rPr>
              <a:t>Central Server</a:t>
            </a:r>
          </a:p>
          <a:p>
            <a:pPr algn="l">
              <a:spcAft>
                <a:spcPts val="600"/>
              </a:spcAft>
            </a:pPr>
            <a:r>
              <a:rPr sz="1400" b="0" i="0">
                <a:solidFill>
                  <a:srgbClr val="666666"/>
                </a:solidFill>
              </a:rPr>
              <a:t>global configuration: members, trusted services</a:t>
            </a:r>
          </a:p>
        </p:txBody>
      </p:sp>
      <p:sp>
        <p:nvSpPr>
          <p:cNvPr id="5" name="Rounded Rectangle 4"/>
          <p:cNvSpPr/>
          <p:nvPr/>
        </p:nvSpPr>
        <p:spPr>
          <a:xfrm>
            <a:off x="7040880" y="1554480"/>
            <a:ext cx="3291840" cy="9144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7150608" y="1627632"/>
            <a:ext cx="3072384" cy="768096"/>
          </a:xfrm>
          <a:prstGeom prst="rect">
            <a:avLst/>
          </a:prstGeom>
          <a:noFill/>
        </p:spPr>
        <p:txBody>
          <a:bodyPr wrap="square" lIns="45720" rIns="45720" anchor="ctr">
            <a:spAutoFit/>
          </a:bodyPr>
          <a:lstStyle/>
          <a:p>
            <a:pPr algn="l">
              <a:spcAft>
                <a:spcPts val="200"/>
              </a:spcAft>
            </a:pPr>
            <a:r>
              <a:rPr sz="1700" b="0" i="0">
                <a:solidFill>
                  <a:srgbClr val="1B365D"/>
                </a:solidFill>
                <a:latin typeface="Rubik Medium"/>
              </a:rPr>
              <a:t>Trust services</a:t>
            </a:r>
          </a:p>
          <a:p>
            <a:pPr algn="l">
              <a:spcAft>
                <a:spcPts val="600"/>
              </a:spcAft>
            </a:pPr>
            <a:r>
              <a:rPr sz="1400" b="0" i="0">
                <a:solidFill>
                  <a:srgbClr val="666666"/>
                </a:solidFill>
              </a:rPr>
              <a:t>CA · OCSP · time-stamping (TSA)</a:t>
            </a:r>
          </a:p>
        </p:txBody>
      </p:sp>
      <p:sp>
        <p:nvSpPr>
          <p:cNvPr id="7" name="Rounded Rectangle 6"/>
          <p:cNvSpPr/>
          <p:nvPr/>
        </p:nvSpPr>
        <p:spPr>
          <a:xfrm>
            <a:off x="1280160" y="3017520"/>
            <a:ext cx="3566160" cy="2514600"/>
          </a:xfrm>
          <a:prstGeom prst="roundRect">
            <a:avLst>
              <a:gd name="adj" fmla="val 6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63039" y="3090672"/>
            <a:ext cx="3200400" cy="320040"/>
          </a:xfrm>
          <a:prstGeom prst="rect">
            <a:avLst/>
          </a:prstGeom>
          <a:noFill/>
        </p:spPr>
        <p:txBody>
          <a:bodyPr wrap="square" lIns="45720" rIns="45720" anchor="t">
            <a:spAutoFit/>
          </a:bodyPr>
          <a:lstStyle/>
          <a:p>
            <a:pPr algn="l">
              <a:spcAft>
                <a:spcPts val="600"/>
              </a:spcAft>
            </a:pPr>
            <a:r>
              <a:rPr sz="1500" b="0" i="0">
                <a:solidFill>
                  <a:srgbClr val="2C5697"/>
                </a:solidFill>
                <a:latin typeface="Rubik Medium"/>
              </a:rPr>
              <a:t>Organisation A · consumer</a:t>
            </a:r>
          </a:p>
        </p:txBody>
      </p:sp>
      <p:sp>
        <p:nvSpPr>
          <p:cNvPr id="9" name="Rounded Rectangle 8"/>
          <p:cNvSpPr/>
          <p:nvPr/>
        </p:nvSpPr>
        <p:spPr>
          <a:xfrm>
            <a:off x="1508760" y="3520440"/>
            <a:ext cx="3108960" cy="822960"/>
          </a:xfrm>
          <a:prstGeom prst="roundRect">
            <a:avLst>
              <a:gd name="adj" fmla="val 6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618488" y="3593592"/>
            <a:ext cx="2889504" cy="676656"/>
          </a:xfrm>
          <a:prstGeom prst="rect">
            <a:avLst/>
          </a:prstGeom>
          <a:noFill/>
        </p:spPr>
        <p:txBody>
          <a:bodyPr wrap="square" lIns="45720" rIns="45720" anchor="ctr">
            <a:spAutoFit/>
          </a:bodyPr>
          <a:lstStyle/>
          <a:p>
            <a:pPr algn="l">
              <a:spcAft>
                <a:spcPts val="200"/>
              </a:spcAft>
            </a:pPr>
            <a:r>
              <a:rPr sz="1700" b="0" i="0">
                <a:solidFill>
                  <a:srgbClr val="1B365D"/>
                </a:solidFill>
                <a:latin typeface="Rubik Medium"/>
              </a:rPr>
              <a:t>Security Server</a:t>
            </a:r>
          </a:p>
          <a:p>
            <a:pPr algn="l">
              <a:spcAft>
                <a:spcPts val="600"/>
              </a:spcAft>
            </a:pPr>
            <a:r>
              <a:rPr sz="1400" b="0" i="0">
                <a:solidFill>
                  <a:srgbClr val="666666"/>
                </a:solidFill>
              </a:rPr>
              <a:t>signs · verifies · logs</a:t>
            </a:r>
          </a:p>
        </p:txBody>
      </p:sp>
      <p:sp>
        <p:nvSpPr>
          <p:cNvPr id="11" name="Rounded Rectangle 10"/>
          <p:cNvSpPr/>
          <p:nvPr/>
        </p:nvSpPr>
        <p:spPr>
          <a:xfrm>
            <a:off x="1508760" y="4526280"/>
            <a:ext cx="3108960" cy="77724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618488" y="4599432"/>
            <a:ext cx="2889504" cy="630936"/>
          </a:xfrm>
          <a:prstGeom prst="rect">
            <a:avLst/>
          </a:prstGeom>
          <a:noFill/>
        </p:spPr>
        <p:txBody>
          <a:bodyPr wrap="square" lIns="45720" rIns="45720" anchor="ctr">
            <a:spAutoFit/>
          </a:bodyPr>
          <a:lstStyle/>
          <a:p>
            <a:pPr algn="l">
              <a:spcAft>
                <a:spcPts val="200"/>
              </a:spcAft>
            </a:pPr>
            <a:r>
              <a:rPr sz="1700" b="0" i="0">
                <a:solidFill>
                  <a:srgbClr val="1B365D"/>
                </a:solidFill>
                <a:latin typeface="Rubik Medium"/>
              </a:rPr>
              <a:t>Information system</a:t>
            </a:r>
          </a:p>
          <a:p>
            <a:pPr algn="l">
              <a:spcAft>
                <a:spcPts val="600"/>
              </a:spcAft>
            </a:pPr>
            <a:r>
              <a:rPr sz="1400" b="0" i="0">
                <a:solidFill>
                  <a:srgbClr val="666666"/>
                </a:solidFill>
              </a:rPr>
              <a:t>the organisation's own service</a:t>
            </a:r>
          </a:p>
        </p:txBody>
      </p:sp>
      <p:cxnSp>
        <p:nvCxnSpPr>
          <p:cNvPr id="13" name="Connector 12"/>
          <p:cNvCxnSpPr/>
          <p:nvPr/>
        </p:nvCxnSpPr>
        <p:spPr>
          <a:xfrm>
            <a:off x="3063239" y="4343400"/>
            <a:ext cx="0" cy="182880"/>
          </a:xfrm>
          <a:prstGeom prst="line">
            <a:avLst/>
          </a:prstGeom>
          <a:ln w="25400">
            <a:solidFill>
              <a:srgbClr val="1B365D"/>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89520" y="3017520"/>
            <a:ext cx="3566160" cy="2514600"/>
          </a:xfrm>
          <a:prstGeom prst="roundRect">
            <a:avLst>
              <a:gd name="adj" fmla="val 6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72400" y="3090672"/>
            <a:ext cx="3200400" cy="320040"/>
          </a:xfrm>
          <a:prstGeom prst="rect">
            <a:avLst/>
          </a:prstGeom>
          <a:noFill/>
        </p:spPr>
        <p:txBody>
          <a:bodyPr wrap="square" lIns="45720" rIns="45720" anchor="t">
            <a:spAutoFit/>
          </a:bodyPr>
          <a:lstStyle/>
          <a:p>
            <a:pPr algn="l">
              <a:spcAft>
                <a:spcPts val="600"/>
              </a:spcAft>
            </a:pPr>
            <a:r>
              <a:rPr sz="1500" b="0" i="0">
                <a:solidFill>
                  <a:srgbClr val="2C5697"/>
                </a:solidFill>
                <a:latin typeface="Rubik Medium"/>
              </a:rPr>
              <a:t>Organisation B · provider</a:t>
            </a:r>
          </a:p>
        </p:txBody>
      </p:sp>
      <p:sp>
        <p:nvSpPr>
          <p:cNvPr id="16" name="Rounded Rectangle 15"/>
          <p:cNvSpPr/>
          <p:nvPr/>
        </p:nvSpPr>
        <p:spPr>
          <a:xfrm>
            <a:off x="7818120" y="3520440"/>
            <a:ext cx="3108960" cy="822960"/>
          </a:xfrm>
          <a:prstGeom prst="roundRect">
            <a:avLst>
              <a:gd name="adj" fmla="val 6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927848" y="3593592"/>
            <a:ext cx="2889504" cy="676656"/>
          </a:xfrm>
          <a:prstGeom prst="rect">
            <a:avLst/>
          </a:prstGeom>
          <a:noFill/>
        </p:spPr>
        <p:txBody>
          <a:bodyPr wrap="square" lIns="45720" rIns="45720" anchor="ctr">
            <a:spAutoFit/>
          </a:bodyPr>
          <a:lstStyle/>
          <a:p>
            <a:pPr algn="l">
              <a:spcAft>
                <a:spcPts val="200"/>
              </a:spcAft>
            </a:pPr>
            <a:r>
              <a:rPr sz="1700" b="0" i="0">
                <a:solidFill>
                  <a:srgbClr val="1B365D"/>
                </a:solidFill>
                <a:latin typeface="Rubik Medium"/>
              </a:rPr>
              <a:t>Security Server</a:t>
            </a:r>
          </a:p>
          <a:p>
            <a:pPr algn="l">
              <a:spcAft>
                <a:spcPts val="600"/>
              </a:spcAft>
            </a:pPr>
            <a:r>
              <a:rPr sz="1400" b="0" i="0">
                <a:solidFill>
                  <a:srgbClr val="666666"/>
                </a:solidFill>
              </a:rPr>
              <a:t>signs · verifies · logs</a:t>
            </a:r>
          </a:p>
        </p:txBody>
      </p:sp>
      <p:sp>
        <p:nvSpPr>
          <p:cNvPr id="18" name="Rounded Rectangle 17"/>
          <p:cNvSpPr/>
          <p:nvPr/>
        </p:nvSpPr>
        <p:spPr>
          <a:xfrm>
            <a:off x="7818120" y="4526280"/>
            <a:ext cx="3108960" cy="77724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927848" y="4599432"/>
            <a:ext cx="2889504" cy="630936"/>
          </a:xfrm>
          <a:prstGeom prst="rect">
            <a:avLst/>
          </a:prstGeom>
          <a:noFill/>
        </p:spPr>
        <p:txBody>
          <a:bodyPr wrap="square" lIns="45720" rIns="45720" anchor="ctr">
            <a:spAutoFit/>
          </a:bodyPr>
          <a:lstStyle/>
          <a:p>
            <a:pPr algn="l">
              <a:spcAft>
                <a:spcPts val="200"/>
              </a:spcAft>
            </a:pPr>
            <a:r>
              <a:rPr sz="1700" b="0" i="0">
                <a:solidFill>
                  <a:srgbClr val="1B365D"/>
                </a:solidFill>
                <a:latin typeface="Rubik Medium"/>
              </a:rPr>
              <a:t>Information system</a:t>
            </a:r>
          </a:p>
          <a:p>
            <a:pPr algn="l">
              <a:spcAft>
                <a:spcPts val="600"/>
              </a:spcAft>
            </a:pPr>
            <a:r>
              <a:rPr sz="1400" b="0" i="0">
                <a:solidFill>
                  <a:srgbClr val="666666"/>
                </a:solidFill>
              </a:rPr>
              <a:t>the organisation's own service</a:t>
            </a:r>
          </a:p>
        </p:txBody>
      </p:sp>
      <p:cxnSp>
        <p:nvCxnSpPr>
          <p:cNvPr id="20" name="Connector 19"/>
          <p:cNvCxnSpPr/>
          <p:nvPr/>
        </p:nvCxnSpPr>
        <p:spPr>
          <a:xfrm>
            <a:off x="9372600" y="4343400"/>
            <a:ext cx="0" cy="182880"/>
          </a:xfrm>
          <a:prstGeom prst="line">
            <a:avLst/>
          </a:prstGeom>
          <a:ln w="25400">
            <a:solidFill>
              <a:srgbClr val="1B365D"/>
            </a:solidFill>
          </a:ln>
        </p:spPr>
        <p:style>
          <a:lnRef idx="2">
            <a:schemeClr val="accent1"/>
          </a:lnRef>
          <a:fillRef idx="0">
            <a:schemeClr val="accent1"/>
          </a:fillRef>
          <a:effectRef idx="1">
            <a:schemeClr val="accent1"/>
          </a:effectRef>
          <a:fontRef idx="minor">
            <a:schemeClr val="tx1"/>
          </a:fontRef>
        </p:style>
      </p:cxnSp>
      <p:sp>
        <p:nvSpPr>
          <p:cNvPr id="21" name="Right Arrow 20"/>
          <p:cNvSpPr/>
          <p:nvPr/>
        </p:nvSpPr>
        <p:spPr>
          <a:xfrm>
            <a:off x="4846320" y="3703320"/>
            <a:ext cx="2743200" cy="457200"/>
          </a:xfrm>
          <a:prstGeom prst="rightArrow">
            <a:avLst/>
          </a:prstGeom>
          <a:solidFill>
            <a:srgbClr val="FF57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46320" y="4206240"/>
            <a:ext cx="2743200" cy="685800"/>
          </a:xfrm>
          <a:prstGeom prst="rect">
            <a:avLst/>
          </a:prstGeom>
          <a:noFill/>
        </p:spPr>
        <p:txBody>
          <a:bodyPr wrap="square" lIns="45720" rIns="45720" anchor="t">
            <a:spAutoFit/>
          </a:bodyPr>
          <a:lstStyle/>
          <a:p>
            <a:pPr algn="ctr">
              <a:spcAft>
                <a:spcPts val="600"/>
              </a:spcAft>
            </a:pPr>
            <a:r>
              <a:rPr sz="1500" b="0" i="0">
                <a:solidFill>
                  <a:srgbClr val="1B365D"/>
                </a:solidFill>
                <a:latin typeface="Rubik Medium"/>
              </a:rPr>
              <a:t>signed messages over mutual TLS</a:t>
            </a:r>
          </a:p>
        </p:txBody>
      </p:sp>
      <p:cxnSp>
        <p:nvCxnSpPr>
          <p:cNvPr id="23" name="Connector 22"/>
          <p:cNvCxnSpPr/>
          <p:nvPr/>
        </p:nvCxnSpPr>
        <p:spPr>
          <a:xfrm>
            <a:off x="3749039" y="2468880"/>
            <a:ext cx="0" cy="274320"/>
          </a:xfrm>
          <a:prstGeom prst="line">
            <a:avLst/>
          </a:prstGeom>
          <a:ln w="22225">
            <a:solidFill>
              <a:srgbClr val="6666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86800" y="2468880"/>
            <a:ext cx="0" cy="274320"/>
          </a:xfrm>
          <a:prstGeom prst="line">
            <a:avLst/>
          </a:prstGeom>
          <a:ln w="22225">
            <a:solidFill>
              <a:srgbClr val="666666"/>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63240" y="2743200"/>
            <a:ext cx="6309360" cy="0"/>
          </a:xfrm>
          <a:prstGeom prst="line">
            <a:avLst/>
          </a:prstGeom>
          <a:ln w="22225">
            <a:solidFill>
              <a:srgbClr val="666666"/>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63240" y="2743200"/>
            <a:ext cx="0" cy="274320"/>
          </a:xfrm>
          <a:prstGeom prst="line">
            <a:avLst/>
          </a:prstGeom>
          <a:ln w="22225">
            <a:solidFill>
              <a:srgbClr val="666666"/>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372600" y="2743200"/>
            <a:ext cx="0" cy="274320"/>
          </a:xfrm>
          <a:prstGeom prst="line">
            <a:avLst/>
          </a:prstGeom>
          <a:ln w="22225">
            <a:solidFill>
              <a:srgbClr val="666666"/>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280160" y="5669280"/>
            <a:ext cx="9875520" cy="457200"/>
          </a:xfrm>
          <a:prstGeom prst="rect">
            <a:avLst/>
          </a:prstGeom>
          <a:noFill/>
        </p:spPr>
        <p:txBody>
          <a:bodyPr wrap="square" lIns="45720" rIns="45720" anchor="t">
            <a:spAutoFit/>
          </a:bodyPr>
          <a:lstStyle/>
          <a:p>
            <a:pPr algn="l">
              <a:spcAft>
                <a:spcPts val="600"/>
              </a:spcAft>
            </a:pPr>
            <a:r>
              <a:rPr sz="1500" b="0" i="1">
                <a:solidFill>
                  <a:srgbClr val="666666"/>
                </a:solidFill>
              </a:rPr>
              <a:t>Dashed: used in the background, not on every message.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Research question</a:t>
            </a:r>
          </a:p>
        </p:txBody>
      </p:sp>
      <p:sp>
        <p:nvSpPr>
          <p:cNvPr id="3" name="TextBox 2"/>
          <p:cNvSpPr txBox="1"/>
          <p:nvPr/>
        </p:nvSpPr>
        <p:spPr>
          <a:xfrm>
            <a:off x="1280160" y="1600200"/>
            <a:ext cx="9875520" cy="1371600"/>
          </a:xfrm>
          <a:prstGeom prst="rect">
            <a:avLst/>
          </a:prstGeom>
          <a:noFill/>
        </p:spPr>
        <p:txBody>
          <a:bodyPr wrap="square" lIns="45720" rIns="45720" anchor="t">
            <a:spAutoFit/>
          </a:bodyPr>
          <a:lstStyle/>
          <a:p>
            <a:pPr algn="l">
              <a:spcAft>
                <a:spcPts val="600"/>
              </a:spcAft>
            </a:pPr>
            <a:r>
              <a:rPr sz="2400" b="0" i="0">
                <a:solidFill>
                  <a:srgbClr val="333333"/>
                </a:solidFill>
              </a:rPr>
              <a:t>What does each trust mechanism of X-Road cost per message, in latency and in bytes, and which of that cost is paid on every request rather than deferred?</a:t>
            </a:r>
          </a:p>
        </p:txBody>
      </p:sp>
      <p:sp>
        <p:nvSpPr>
          <p:cNvPr id="4" name="rq1"/>
          <p:cNvSpPr/>
          <p:nvPr/>
        </p:nvSpPr>
        <p:spPr>
          <a:xfrm>
            <a:off x="1280160" y="3246120"/>
            <a:ext cx="3108960" cy="237744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08760" y="3429000"/>
            <a:ext cx="2651760" cy="2103120"/>
          </a:xfrm>
          <a:prstGeom prst="rect">
            <a:avLst/>
          </a:prstGeom>
          <a:noFill/>
        </p:spPr>
        <p:txBody>
          <a:bodyPr wrap="square" lIns="45720" rIns="45720" anchor="t">
            <a:spAutoFit/>
          </a:bodyPr>
          <a:lstStyle/>
          <a:p>
            <a:pPr algn="l">
              <a:spcAft>
                <a:spcPts val="800"/>
              </a:spcAft>
            </a:pPr>
            <a:r>
              <a:rPr sz="2000" b="0" i="0">
                <a:solidFill>
                  <a:srgbClr val="2C5697"/>
                </a:solidFill>
                <a:latin typeface="Rubik Medium"/>
              </a:rPr>
              <a:t>RQ1</a:t>
            </a:r>
          </a:p>
          <a:p>
            <a:pPr algn="l">
              <a:spcAft>
                <a:spcPts val="600"/>
              </a:spcAft>
            </a:pPr>
            <a:r>
              <a:rPr sz="1700" b="0" i="0">
                <a:solidFill>
                  <a:srgbClr val="666666"/>
                </a:solidFill>
              </a:rPr>
              <a:t>Contribution of TLS, signing, verification, logging and time-stamping to latency and bytes</a:t>
            </a:r>
          </a:p>
        </p:txBody>
      </p:sp>
      <p:sp>
        <p:nvSpPr>
          <p:cNvPr id="6" name="rq2"/>
          <p:cNvSpPr/>
          <p:nvPr/>
        </p:nvSpPr>
        <p:spPr>
          <a:xfrm>
            <a:off x="4663440" y="3246120"/>
            <a:ext cx="3108960" cy="237744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892040" y="3429000"/>
            <a:ext cx="2651760" cy="2103120"/>
          </a:xfrm>
          <a:prstGeom prst="rect">
            <a:avLst/>
          </a:prstGeom>
          <a:noFill/>
        </p:spPr>
        <p:txBody>
          <a:bodyPr wrap="square" lIns="45720" rIns="45720" anchor="t">
            <a:spAutoFit/>
          </a:bodyPr>
          <a:lstStyle/>
          <a:p>
            <a:pPr algn="l">
              <a:spcAft>
                <a:spcPts val="800"/>
              </a:spcAft>
            </a:pPr>
            <a:r>
              <a:rPr sz="2000" b="0" i="0">
                <a:solidFill>
                  <a:srgbClr val="2C5697"/>
                </a:solidFill>
                <a:latin typeface="Rubik Medium"/>
              </a:rPr>
              <a:t>RQ2</a:t>
            </a:r>
          </a:p>
          <a:p>
            <a:pPr algn="l">
              <a:spcAft>
                <a:spcPts val="600"/>
              </a:spcAft>
            </a:pPr>
            <a:r>
              <a:rPr sz="1700" b="0" i="0">
                <a:solidFill>
                  <a:srgbClr val="666666"/>
                </a:solidFill>
              </a:rPr>
              <a:t>How the contributions change with message size and with concurrency</a:t>
            </a:r>
          </a:p>
        </p:txBody>
      </p:sp>
      <p:sp>
        <p:nvSpPr>
          <p:cNvPr id="8" name="rq3"/>
          <p:cNvSpPr/>
          <p:nvPr/>
        </p:nvSpPr>
        <p:spPr>
          <a:xfrm>
            <a:off x="8046720" y="3246120"/>
            <a:ext cx="3108960" cy="237744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275320" y="3429000"/>
            <a:ext cx="2651760" cy="2103120"/>
          </a:xfrm>
          <a:prstGeom prst="rect">
            <a:avLst/>
          </a:prstGeom>
          <a:noFill/>
        </p:spPr>
        <p:txBody>
          <a:bodyPr wrap="square" lIns="45720" rIns="45720" anchor="t">
            <a:spAutoFit/>
          </a:bodyPr>
          <a:lstStyle/>
          <a:p>
            <a:pPr algn="l">
              <a:spcAft>
                <a:spcPts val="800"/>
              </a:spcAft>
            </a:pPr>
            <a:r>
              <a:rPr sz="2000" b="0" i="0">
                <a:solidFill>
                  <a:srgbClr val="2C5697"/>
                </a:solidFill>
                <a:latin typeface="Rubik Medium"/>
              </a:rPr>
              <a:t>RQ3</a:t>
            </a:r>
          </a:p>
          <a:p>
            <a:pPr algn="l">
              <a:spcAft>
                <a:spcPts val="600"/>
              </a:spcAft>
            </a:pPr>
            <a:r>
              <a:rPr sz="1700" b="0" i="0">
                <a:solidFill>
                  <a:srgbClr val="666666"/>
                </a:solidFill>
              </a:rPr>
              <a:t>How much the answers depend on the environment: one host vs separate wired machines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The measured request path</a:t>
            </a:r>
          </a:p>
        </p:txBody>
      </p:sp>
      <p:sp>
        <p:nvSpPr>
          <p:cNvPr id="3" name="Rounded Rectangle 2"/>
          <p:cNvSpPr/>
          <p:nvPr/>
        </p:nvSpPr>
        <p:spPr>
          <a:xfrm>
            <a:off x="1280160" y="1645920"/>
            <a:ext cx="1325880" cy="1143000"/>
          </a:xfrm>
          <a:prstGeom prst="roundRect">
            <a:avLst>
              <a:gd name="adj" fmla="val 6000"/>
            </a:avLst>
          </a:prstGeom>
          <a:solidFill>
            <a:srgbClr val="E3EBF5"/>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371600" y="1737360"/>
            <a:ext cx="1143000" cy="960120"/>
          </a:xfrm>
          <a:prstGeom prst="rect">
            <a:avLst/>
          </a:prstGeom>
          <a:noFill/>
        </p:spPr>
        <p:txBody>
          <a:bodyPr wrap="square" lIns="45720" rIns="45720" anchor="ctr">
            <a:spAutoFit/>
          </a:bodyPr>
          <a:lstStyle/>
          <a:p>
            <a:pPr algn="l">
              <a:spcAft>
                <a:spcPts val="400"/>
              </a:spcAft>
            </a:pPr>
            <a:r>
              <a:rPr sz="1700" b="0" i="0">
                <a:solidFill>
                  <a:srgbClr val="333333"/>
                </a:solidFill>
                <a:latin typeface="Rubik Medium"/>
              </a:rPr>
              <a:t>Client</a:t>
            </a:r>
          </a:p>
          <a:p>
            <a:pPr algn="l">
              <a:spcAft>
                <a:spcPts val="600"/>
              </a:spcAft>
            </a:pPr>
            <a:r>
              <a:rPr sz="1400" b="0" i="0">
                <a:solidFill>
                  <a:srgbClr val="666666"/>
                </a:solidFill>
              </a:rPr>
              <a:t>k6 load generator</a:t>
            </a:r>
          </a:p>
        </p:txBody>
      </p:sp>
      <p:sp>
        <p:nvSpPr>
          <p:cNvPr id="5" name="Rounded Rectangle 4"/>
          <p:cNvSpPr/>
          <p:nvPr/>
        </p:nvSpPr>
        <p:spPr>
          <a:xfrm>
            <a:off x="3063239" y="1645920"/>
            <a:ext cx="2606040" cy="1143000"/>
          </a:xfrm>
          <a:prstGeom prst="roundRect">
            <a:avLst>
              <a:gd name="adj" fmla="val 6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154679" y="1737360"/>
            <a:ext cx="2423160" cy="960120"/>
          </a:xfrm>
          <a:prstGeom prst="rect">
            <a:avLst/>
          </a:prstGeom>
          <a:noFill/>
        </p:spPr>
        <p:txBody>
          <a:bodyPr wrap="square" lIns="45720" rIns="45720" anchor="ctr">
            <a:spAutoFit/>
          </a:bodyPr>
          <a:lstStyle/>
          <a:p>
            <a:pPr algn="l">
              <a:spcAft>
                <a:spcPts val="400"/>
              </a:spcAft>
            </a:pPr>
            <a:r>
              <a:rPr sz="1700" b="0" i="0">
                <a:solidFill>
                  <a:srgbClr val="333333"/>
                </a:solidFill>
                <a:latin typeface="Rubik Medium"/>
              </a:rPr>
              <a:t>Consumer SS (ss1)</a:t>
            </a:r>
          </a:p>
          <a:p>
            <a:pPr algn="l">
              <a:spcAft>
                <a:spcPts val="600"/>
              </a:spcAft>
            </a:pPr>
            <a:r>
              <a:rPr sz="1400" b="0" i="0">
                <a:solidFill>
                  <a:srgbClr val="666666"/>
                </a:solidFill>
              </a:rPr>
              <a:t>sign request · log
verify response · log</a:t>
            </a:r>
          </a:p>
        </p:txBody>
      </p:sp>
      <p:sp>
        <p:nvSpPr>
          <p:cNvPr id="7" name="Rounded Rectangle 6"/>
          <p:cNvSpPr/>
          <p:nvPr/>
        </p:nvSpPr>
        <p:spPr>
          <a:xfrm>
            <a:off x="6766560" y="1645920"/>
            <a:ext cx="2606040" cy="1143000"/>
          </a:xfrm>
          <a:prstGeom prst="roundRect">
            <a:avLst>
              <a:gd name="adj" fmla="val 6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858000" y="1737360"/>
            <a:ext cx="2423160" cy="960120"/>
          </a:xfrm>
          <a:prstGeom prst="rect">
            <a:avLst/>
          </a:prstGeom>
          <a:noFill/>
        </p:spPr>
        <p:txBody>
          <a:bodyPr wrap="square" lIns="45720" rIns="45720" anchor="ctr">
            <a:spAutoFit/>
          </a:bodyPr>
          <a:lstStyle/>
          <a:p>
            <a:pPr algn="l">
              <a:spcAft>
                <a:spcPts val="400"/>
              </a:spcAft>
            </a:pPr>
            <a:r>
              <a:rPr sz="1700" b="0" i="0">
                <a:solidFill>
                  <a:srgbClr val="333333"/>
                </a:solidFill>
                <a:latin typeface="Rubik Medium"/>
              </a:rPr>
              <a:t>Provider SS (ss2)</a:t>
            </a:r>
          </a:p>
          <a:p>
            <a:pPr algn="l">
              <a:spcAft>
                <a:spcPts val="600"/>
              </a:spcAft>
            </a:pPr>
            <a:r>
              <a:rPr sz="1400" b="0" i="0">
                <a:solidFill>
                  <a:srgbClr val="666666"/>
                </a:solidFill>
              </a:rPr>
              <a:t>verify request · log
sign response · log</a:t>
            </a:r>
          </a:p>
        </p:txBody>
      </p:sp>
      <p:sp>
        <p:nvSpPr>
          <p:cNvPr id="9" name="Rounded Rectangle 8"/>
          <p:cNvSpPr/>
          <p:nvPr/>
        </p:nvSpPr>
        <p:spPr>
          <a:xfrm>
            <a:off x="9829800" y="1645920"/>
            <a:ext cx="1325880" cy="1143000"/>
          </a:xfrm>
          <a:prstGeom prst="roundRect">
            <a:avLst>
              <a:gd name="adj" fmla="val 6000"/>
            </a:avLst>
          </a:prstGeom>
          <a:solidFill>
            <a:srgbClr val="E3EBF5"/>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921240" y="1737360"/>
            <a:ext cx="1143000" cy="960120"/>
          </a:xfrm>
          <a:prstGeom prst="rect">
            <a:avLst/>
          </a:prstGeom>
          <a:noFill/>
        </p:spPr>
        <p:txBody>
          <a:bodyPr wrap="square" lIns="45720" rIns="45720" anchor="ctr">
            <a:spAutoFit/>
          </a:bodyPr>
          <a:lstStyle/>
          <a:p>
            <a:pPr algn="l">
              <a:spcAft>
                <a:spcPts val="400"/>
              </a:spcAft>
            </a:pPr>
            <a:r>
              <a:rPr sz="1700" b="0" i="0">
                <a:solidFill>
                  <a:srgbClr val="333333"/>
                </a:solidFill>
                <a:latin typeface="Rubik Medium"/>
              </a:rPr>
              <a:t>Echo IS</a:t>
            </a:r>
          </a:p>
          <a:p>
            <a:pPr algn="l">
              <a:spcAft>
                <a:spcPts val="600"/>
              </a:spcAft>
            </a:pPr>
            <a:r>
              <a:rPr sz="1400" b="0" i="0">
                <a:solidFill>
                  <a:srgbClr val="666666"/>
                </a:solidFill>
              </a:rPr>
              <a:t>fixed-size reply</a:t>
            </a:r>
          </a:p>
        </p:txBody>
      </p:sp>
      <p:sp>
        <p:nvSpPr>
          <p:cNvPr id="11" name="Right Arrow 10"/>
          <p:cNvSpPr/>
          <p:nvPr/>
        </p:nvSpPr>
        <p:spPr>
          <a:xfrm>
            <a:off x="2651760" y="2057400"/>
            <a:ext cx="365760" cy="320040"/>
          </a:xfrm>
          <a:prstGeom prst="rightArrow">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5760720" y="2011680"/>
            <a:ext cx="914400" cy="411480"/>
          </a:xfrm>
          <a:prstGeom prst="rightArrow">
            <a:avLst/>
          </a:prstGeom>
          <a:solidFill>
            <a:srgbClr val="FF57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15000" y="2450592"/>
            <a:ext cx="1005840" cy="365760"/>
          </a:xfrm>
          <a:prstGeom prst="rect">
            <a:avLst/>
          </a:prstGeom>
          <a:noFill/>
        </p:spPr>
        <p:txBody>
          <a:bodyPr wrap="square" lIns="45720" rIns="45720" anchor="t">
            <a:spAutoFit/>
          </a:bodyPr>
          <a:lstStyle/>
          <a:p>
            <a:pPr algn="ctr">
              <a:spcAft>
                <a:spcPts val="600"/>
              </a:spcAft>
            </a:pPr>
            <a:r>
              <a:rPr sz="1600" b="0" i="0">
                <a:solidFill>
                  <a:srgbClr val="2C5697"/>
                </a:solidFill>
                <a:latin typeface="Rubik Medium"/>
              </a:rPr>
              <a:t>mTLS</a:t>
            </a:r>
          </a:p>
        </p:txBody>
      </p:sp>
      <p:sp>
        <p:nvSpPr>
          <p:cNvPr id="14" name="Right Arrow 13"/>
          <p:cNvSpPr/>
          <p:nvPr/>
        </p:nvSpPr>
        <p:spPr>
          <a:xfrm>
            <a:off x="9418320" y="2057400"/>
            <a:ext cx="365760" cy="320040"/>
          </a:xfrm>
          <a:prstGeom prst="rightArrow">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280160" y="3154680"/>
            <a:ext cx="4800600" cy="2148840"/>
          </a:xfrm>
          <a:prstGeom prst="roundRect">
            <a:avLst>
              <a:gd name="adj" fmla="val 6000"/>
            </a:avLst>
          </a:prstGeom>
          <a:solidFill>
            <a:srgbClr val="FD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481328" y="3319272"/>
            <a:ext cx="4398264" cy="1874520"/>
          </a:xfrm>
          <a:prstGeom prst="rect">
            <a:avLst/>
          </a:prstGeom>
          <a:noFill/>
        </p:spPr>
        <p:txBody>
          <a:bodyPr wrap="square" lIns="45720" rIns="45720" anchor="t">
            <a:spAutoFit/>
          </a:bodyPr>
          <a:lstStyle/>
          <a:p>
            <a:pPr algn="l">
              <a:spcAft>
                <a:spcPts val="800"/>
              </a:spcAft>
            </a:pPr>
            <a:r>
              <a:rPr sz="1900" b="0" i="0">
                <a:solidFill>
                  <a:srgbClr val="333333"/>
                </a:solidFill>
                <a:latin typeface="Rubik Medium"/>
              </a:rPr>
              <a:t>Paid on every request</a:t>
            </a:r>
          </a:p>
          <a:p>
            <a:pPr marL="219456" indent="-219456" algn="l">
              <a:spcAft>
                <a:spcPts val="500"/>
              </a:spcAft>
              <a:buChar char="•"/>
            </a:pPr>
            <a:r>
              <a:rPr sz="1600" b="0" i="0">
                <a:solidFill>
                  <a:srgbClr val="666666"/>
                </a:solidFill>
              </a:rPr>
              <a:t>signing and verification, both directions</a:t>
            </a:r>
          </a:p>
          <a:p>
            <a:pPr marL="219456" indent="-219456" algn="l">
              <a:spcAft>
                <a:spcPts val="500"/>
              </a:spcAft>
              <a:buChar char="•"/>
            </a:pPr>
            <a:r>
              <a:rPr sz="1600" b="0" i="0">
                <a:solidFill>
                  <a:srgbClr val="666666"/>
                </a:solidFill>
              </a:rPr>
              <a:t>message log write on both servers</a:t>
            </a:r>
          </a:p>
          <a:p>
            <a:pPr marL="219456" indent="-219456" algn="l">
              <a:spcAft>
                <a:spcPts val="500"/>
              </a:spcAft>
              <a:buChar char="•"/>
            </a:pPr>
            <a:r>
              <a:rPr sz="1600" b="0" i="0">
                <a:solidFill>
                  <a:srgbClr val="666666"/>
                </a:solidFill>
              </a:rPr>
              <a:t>TLS handshake: by default once per message, connections are not reused</a:t>
            </a:r>
          </a:p>
        </p:txBody>
      </p:sp>
      <p:sp>
        <p:nvSpPr>
          <p:cNvPr id="17" name="Rounded Rectangle 16"/>
          <p:cNvSpPr/>
          <p:nvPr/>
        </p:nvSpPr>
        <p:spPr>
          <a:xfrm>
            <a:off x="6355080" y="3154680"/>
            <a:ext cx="4800600" cy="2148840"/>
          </a:xfrm>
          <a:prstGeom prst="roundRect">
            <a:avLst>
              <a:gd name="adj" fmla="val 6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556248" y="3319272"/>
            <a:ext cx="4398264" cy="1874520"/>
          </a:xfrm>
          <a:prstGeom prst="rect">
            <a:avLst/>
          </a:prstGeom>
          <a:noFill/>
        </p:spPr>
        <p:txBody>
          <a:bodyPr wrap="square" lIns="45720" rIns="45720" anchor="t">
            <a:spAutoFit/>
          </a:bodyPr>
          <a:lstStyle/>
          <a:p>
            <a:pPr algn="l">
              <a:spcAft>
                <a:spcPts val="800"/>
              </a:spcAft>
            </a:pPr>
            <a:r>
              <a:rPr sz="1900" b="0" i="0">
                <a:solidFill>
                  <a:srgbClr val="333333"/>
                </a:solidFill>
                <a:latin typeface="Rubik Medium"/>
              </a:rPr>
              <a:t>Deferred or amortised</a:t>
            </a:r>
          </a:p>
          <a:p>
            <a:pPr marL="219456" indent="-219456" algn="l">
              <a:spcAft>
                <a:spcPts val="500"/>
              </a:spcAft>
              <a:buChar char="•"/>
            </a:pPr>
            <a:r>
              <a:rPr sz="1600" b="0" i="0">
                <a:solidFill>
                  <a:srgbClr val="666666"/>
                </a:solidFill>
              </a:rPr>
              <a:t>time-stamping: batched over a hash chain, about 2 TSA calls per 1000 messages</a:t>
            </a:r>
          </a:p>
          <a:p>
            <a:pPr marL="219456" indent="-219456" algn="l">
              <a:spcAft>
                <a:spcPts val="500"/>
              </a:spcAft>
              <a:buChar char="•"/>
            </a:pPr>
            <a:r>
              <a:rPr sz="1600" b="0" i="0">
                <a:solidFill>
                  <a:srgbClr val="666666"/>
                </a:solidFill>
              </a:rPr>
              <a:t>OCSP: cached responses, refreshed every 20 minutes</a:t>
            </a:r>
          </a:p>
          <a:p>
            <a:pPr marL="219456" indent="-219456" algn="l">
              <a:spcAft>
                <a:spcPts val="500"/>
              </a:spcAft>
              <a:buChar char="•"/>
            </a:pPr>
            <a:r>
              <a:rPr sz="1600" b="0" i="0">
                <a:solidFill>
                  <a:srgbClr val="666666"/>
                </a:solidFill>
              </a:rPr>
              <a:t>global configuration refresh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What the closest X-Road studies measured</a:t>
            </a:r>
          </a:p>
        </p:txBody>
      </p:sp>
      <p:graphicFrame>
        <p:nvGraphicFramePr>
          <p:cNvPr id="3" name="Table 2"/>
          <p:cNvGraphicFramePr>
            <a:graphicFrameLocks noGrp="1"/>
          </p:cNvGraphicFramePr>
          <p:nvPr/>
        </p:nvGraphicFramePr>
        <p:xfrm>
          <a:off x="1280160" y="1600200"/>
          <a:ext cx="9875519" cy="3401568"/>
        </p:xfrm>
        <a:graphic>
          <a:graphicData uri="http://schemas.openxmlformats.org/drawingml/2006/table">
            <a:tbl>
              <a:tblPr firstRow="1">
                <a:tableStyleId>{5C22544A-7EE6-4342-B048-85BDC9FD1C3A}</a:tableStyleId>
              </a:tblPr>
              <a:tblGrid>
                <a:gridCol w="1975104">
                  <a:extLst>
                    <a:ext uri="{9D8B030D-6E8A-4147-A177-3AD203B41FA5}">
                      <a16:colId xmlns:a16="http://schemas.microsoft.com/office/drawing/2014/main" val="20000"/>
                    </a:ext>
                  </a:extLst>
                </a:gridCol>
                <a:gridCol w="4641494">
                  <a:extLst>
                    <a:ext uri="{9D8B030D-6E8A-4147-A177-3AD203B41FA5}">
                      <a16:colId xmlns:a16="http://schemas.microsoft.com/office/drawing/2014/main" val="20001"/>
                    </a:ext>
                  </a:extLst>
                </a:gridCol>
                <a:gridCol w="3258921">
                  <a:extLst>
                    <a:ext uri="{9D8B030D-6E8A-4147-A177-3AD203B41FA5}">
                      <a16:colId xmlns:a16="http://schemas.microsoft.com/office/drawing/2014/main" val="20002"/>
                    </a:ext>
                  </a:extLst>
                </a:gridCol>
              </a:tblGrid>
              <a:tr h="566928">
                <a:tc>
                  <a:txBody>
                    <a:bodyPr/>
                    <a:lstStyle/>
                    <a:p>
                      <a:pPr algn="l"/>
                      <a:r>
                        <a:rPr sz="1500" b="0">
                          <a:solidFill>
                            <a:srgbClr val="333333"/>
                          </a:solidFill>
                          <a:latin typeface="Rubik Medium"/>
                        </a:rPr>
                        <a:t>Work</a:t>
                      </a:r>
                    </a:p>
                  </a:txBody>
                  <a:tcPr anchor="ctr">
                    <a:solidFill>
                      <a:srgbClr val="E3EBF5"/>
                    </a:solidFill>
                  </a:tcPr>
                </a:tc>
                <a:tc>
                  <a:txBody>
                    <a:bodyPr/>
                    <a:lstStyle/>
                    <a:p>
                      <a:pPr algn="l"/>
                      <a:r>
                        <a:rPr sz="1500" b="0">
                          <a:solidFill>
                            <a:srgbClr val="333333"/>
                          </a:solidFill>
                          <a:latin typeface="Rubik Medium"/>
                        </a:rPr>
                        <a:t>Measured or established</a:t>
                      </a:r>
                    </a:p>
                  </a:txBody>
                  <a:tcPr anchor="ctr">
                    <a:solidFill>
                      <a:srgbClr val="E3EBF5"/>
                    </a:solidFill>
                  </a:tcPr>
                </a:tc>
                <a:tc>
                  <a:txBody>
                    <a:bodyPr/>
                    <a:lstStyle/>
                    <a:p>
                      <a:pPr algn="l"/>
                      <a:r>
                        <a:rPr sz="1500" b="0">
                          <a:solidFill>
                            <a:srgbClr val="333333"/>
                          </a:solidFill>
                          <a:latin typeface="Rubik Medium"/>
                        </a:rPr>
                        <a:t>Left open</a:t>
                      </a:r>
                    </a:p>
                  </a:txBody>
                  <a:tcPr anchor="ctr">
                    <a:solidFill>
                      <a:srgbClr val="E3EBF5"/>
                    </a:solidFill>
                  </a:tcPr>
                </a:tc>
                <a:extLst>
                  <a:ext uri="{0D108BD9-81ED-4DB2-BD59-A6C34878D82A}">
                    <a16:rowId xmlns:a16="http://schemas.microsoft.com/office/drawing/2014/main" val="10000"/>
                  </a:ext>
                </a:extLst>
              </a:tr>
              <a:tr h="566928">
                <a:tc>
                  <a:txBody>
                    <a:bodyPr/>
                    <a:lstStyle/>
                    <a:p>
                      <a:pPr algn="l"/>
                      <a:r>
                        <a:rPr sz="1500" b="0">
                          <a:solidFill>
                            <a:srgbClr val="333333"/>
                          </a:solidFill>
                        </a:rPr>
                        <a:t>Ansper et al. 2013</a:t>
                      </a:r>
                    </a:p>
                  </a:txBody>
                  <a:tcPr anchor="ctr">
                    <a:solidFill>
                      <a:srgbClr val="FFFFFF"/>
                    </a:solidFill>
                  </a:tcPr>
                </a:tc>
                <a:tc>
                  <a:txBody>
                    <a:bodyPr/>
                    <a:lstStyle/>
                    <a:p>
                      <a:pPr algn="l"/>
                      <a:r>
                        <a:rPr sz="1500" b="0">
                          <a:solidFill>
                            <a:srgbClr val="333333"/>
                          </a:solidFill>
                        </a:rPr>
                        <a:t>Design of signing, OCSP caching, batched time-stamping; analytical throughput estimate</a:t>
                      </a:r>
                    </a:p>
                  </a:txBody>
                  <a:tcPr anchor="ctr">
                    <a:solidFill>
                      <a:srgbClr val="FFFFFF"/>
                    </a:solidFill>
                  </a:tcPr>
                </a:tc>
                <a:tc>
                  <a:txBody>
                    <a:bodyPr/>
                    <a:lstStyle/>
                    <a:p>
                      <a:pPr algn="l"/>
                      <a:r>
                        <a:rPr sz="1500" b="0">
                          <a:solidFill>
                            <a:srgbClr val="333333"/>
                          </a:solidFill>
                        </a:rPr>
                        <a:t>No measured per-message cost</a:t>
                      </a:r>
                    </a:p>
                  </a:txBody>
                  <a:tcPr anchor="ctr">
                    <a:solidFill>
                      <a:srgbClr val="FFFFFF"/>
                    </a:solidFill>
                  </a:tcPr>
                </a:tc>
                <a:extLst>
                  <a:ext uri="{0D108BD9-81ED-4DB2-BD59-A6C34878D82A}">
                    <a16:rowId xmlns:a16="http://schemas.microsoft.com/office/drawing/2014/main" val="10001"/>
                  </a:ext>
                </a:extLst>
              </a:tr>
              <a:tr h="566928">
                <a:tc>
                  <a:txBody>
                    <a:bodyPr/>
                    <a:lstStyle/>
                    <a:p>
                      <a:pPr algn="l"/>
                      <a:r>
                        <a:rPr sz="1500" b="0">
                          <a:solidFill>
                            <a:srgbClr val="333333"/>
                          </a:solidFill>
                        </a:rPr>
                        <a:t>Mironova 2017</a:t>
                      </a:r>
                    </a:p>
                  </a:txBody>
                  <a:tcPr anchor="ctr">
                    <a:solidFill>
                      <a:srgbClr val="FFFFFF"/>
                    </a:solidFill>
                  </a:tcPr>
                </a:tc>
                <a:tc>
                  <a:txBody>
                    <a:bodyPr/>
                    <a:lstStyle/>
                    <a:p>
                      <a:pPr algn="l"/>
                      <a:r>
                        <a:rPr sz="1500" b="0">
                          <a:solidFill>
                            <a:srgbClr val="333333"/>
                          </a:solidFill>
                        </a:rPr>
                        <a:t>Central services testing; production intervals; behaviour without TSA</a:t>
                      </a:r>
                    </a:p>
                  </a:txBody>
                  <a:tcPr anchor="ctr">
                    <a:solidFill>
                      <a:srgbClr val="FFFFFF"/>
                    </a:solidFill>
                  </a:tcPr>
                </a:tc>
                <a:tc>
                  <a:txBody>
                    <a:bodyPr/>
                    <a:lstStyle/>
                    <a:p>
                      <a:pPr algn="l"/>
                      <a:r>
                        <a:rPr sz="1500" b="0">
                          <a:solidFill>
                            <a:srgbClr val="333333"/>
                          </a:solidFill>
                        </a:rPr>
                        <a:t>Cost on the message path</a:t>
                      </a:r>
                    </a:p>
                  </a:txBody>
                  <a:tcPr anchor="ctr">
                    <a:solidFill>
                      <a:srgbClr val="FFFFFF"/>
                    </a:solidFill>
                  </a:tcPr>
                </a:tc>
                <a:extLst>
                  <a:ext uri="{0D108BD9-81ED-4DB2-BD59-A6C34878D82A}">
                    <a16:rowId xmlns:a16="http://schemas.microsoft.com/office/drawing/2014/main" val="10002"/>
                  </a:ext>
                </a:extLst>
              </a:tr>
              <a:tr h="566928">
                <a:tc>
                  <a:txBody>
                    <a:bodyPr/>
                    <a:lstStyle/>
                    <a:p>
                      <a:pPr algn="l"/>
                      <a:r>
                        <a:rPr sz="1500" b="0">
                          <a:solidFill>
                            <a:srgbClr val="333333"/>
                          </a:solidFill>
                        </a:rPr>
                        <a:t>Taklai 2020</a:t>
                      </a:r>
                    </a:p>
                  </a:txBody>
                  <a:tcPr anchor="ctr">
                    <a:solidFill>
                      <a:srgbClr val="FFFFFF"/>
                    </a:solidFill>
                  </a:tcPr>
                </a:tc>
                <a:tc>
                  <a:txBody>
                    <a:bodyPr/>
                    <a:lstStyle/>
                    <a:p>
                      <a:pPr algn="l"/>
                      <a:r>
                        <a:rPr sz="1500" b="0">
                          <a:solidFill>
                            <a:srgbClr val="333333"/>
                          </a:solidFill>
                        </a:rPr>
                        <a:t>Service latency through the Security Server vs direct</a:t>
                      </a:r>
                    </a:p>
                  </a:txBody>
                  <a:tcPr anchor="ctr">
                    <a:solidFill>
                      <a:srgbClr val="FFFFFF"/>
                    </a:solidFill>
                  </a:tcPr>
                </a:tc>
                <a:tc>
                  <a:txBody>
                    <a:bodyPr/>
                    <a:lstStyle/>
                    <a:p>
                      <a:pPr algn="l"/>
                      <a:r>
                        <a:rPr sz="1500" b="0">
                          <a:solidFill>
                            <a:srgbClr val="333333"/>
                          </a:solidFill>
                        </a:rPr>
                        <a:t>Which mechanism the overhead comes from</a:t>
                      </a:r>
                    </a:p>
                  </a:txBody>
                  <a:tcPr anchor="ctr">
                    <a:solidFill>
                      <a:srgbClr val="FFFFFF"/>
                    </a:solidFill>
                  </a:tcPr>
                </a:tc>
                <a:extLst>
                  <a:ext uri="{0D108BD9-81ED-4DB2-BD59-A6C34878D82A}">
                    <a16:rowId xmlns:a16="http://schemas.microsoft.com/office/drawing/2014/main" val="10003"/>
                  </a:ext>
                </a:extLst>
              </a:tr>
              <a:tr h="566928">
                <a:tc>
                  <a:txBody>
                    <a:bodyPr/>
                    <a:lstStyle/>
                    <a:p>
                      <a:pPr algn="l"/>
                      <a:r>
                        <a:rPr sz="1500" b="0">
                          <a:solidFill>
                            <a:srgbClr val="333333"/>
                          </a:solidFill>
                        </a:rPr>
                        <a:t>Snetkov 2023</a:t>
                      </a:r>
                    </a:p>
                  </a:txBody>
                  <a:tcPr anchor="ctr">
                    <a:solidFill>
                      <a:srgbClr val="FFFFFF"/>
                    </a:solidFill>
                  </a:tcPr>
                </a:tc>
                <a:tc>
                  <a:txBody>
                    <a:bodyPr/>
                    <a:lstStyle/>
                    <a:p>
                      <a:pPr algn="l"/>
                      <a:r>
                        <a:rPr sz="1500" b="0">
                          <a:solidFill>
                            <a:srgbClr val="333333"/>
                          </a:solidFill>
                        </a:rPr>
                        <a:t>Post-quantum signatures in UXP: signature sizes</a:t>
                      </a:r>
                    </a:p>
                  </a:txBody>
                  <a:tcPr anchor="ctr">
                    <a:solidFill>
                      <a:srgbClr val="FFFFFF"/>
                    </a:solidFill>
                  </a:tcPr>
                </a:tc>
                <a:tc>
                  <a:txBody>
                    <a:bodyPr/>
                    <a:lstStyle/>
                    <a:p>
                      <a:pPr algn="l"/>
                      <a:r>
                        <a:rPr sz="1500" b="0">
                          <a:solidFill>
                            <a:srgbClr val="333333"/>
                          </a:solidFill>
                        </a:rPr>
                        <a:t>Effect on latency and throughput</a:t>
                      </a:r>
                    </a:p>
                  </a:txBody>
                  <a:tcPr anchor="ctr">
                    <a:solidFill>
                      <a:srgbClr val="FFFFFF"/>
                    </a:solidFill>
                  </a:tcPr>
                </a:tc>
                <a:extLst>
                  <a:ext uri="{0D108BD9-81ED-4DB2-BD59-A6C34878D82A}">
                    <a16:rowId xmlns:a16="http://schemas.microsoft.com/office/drawing/2014/main" val="10004"/>
                  </a:ext>
                </a:extLst>
              </a:tr>
              <a:tr h="566928">
                <a:tc>
                  <a:txBody>
                    <a:bodyPr/>
                    <a:lstStyle/>
                    <a:p>
                      <a:pPr algn="l"/>
                      <a:r>
                        <a:rPr sz="1500" b="0">
                          <a:solidFill>
                            <a:srgbClr val="333333"/>
                          </a:solidFill>
                        </a:rPr>
                        <a:t>Bakhtina 2026 (IJIS)</a:t>
                      </a:r>
                    </a:p>
                  </a:txBody>
                  <a:tcPr anchor="ctr">
                    <a:solidFill>
                      <a:srgbClr val="FFFFFF"/>
                    </a:solidFill>
                  </a:tcPr>
                </a:tc>
                <a:tc>
                  <a:txBody>
                    <a:bodyPr/>
                    <a:lstStyle/>
                    <a:p>
                      <a:pPr algn="l"/>
                      <a:r>
                        <a:rPr sz="1500" b="0">
                          <a:solidFill>
                            <a:srgbClr val="333333"/>
                          </a:solidFill>
                        </a:rPr>
                        <a:t>Threshold-signature round trip, one laptop</a:t>
                      </a:r>
                    </a:p>
                  </a:txBody>
                  <a:tcPr anchor="ctr">
                    <a:solidFill>
                      <a:srgbClr val="FFFFFF"/>
                    </a:solidFill>
                  </a:tcPr>
                </a:tc>
                <a:tc>
                  <a:txBody>
                    <a:bodyPr/>
                    <a:lstStyle/>
                    <a:p>
                      <a:pPr algn="l"/>
                      <a:r>
                        <a:rPr sz="1500" b="0">
                          <a:solidFill>
                            <a:srgbClr val="333333"/>
                          </a:solidFill>
                        </a:rPr>
                        <a:t>Breakdown; separate machines</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1280160" y="5257800"/>
            <a:ext cx="9875520" cy="822960"/>
          </a:xfrm>
          <a:prstGeom prst="rect">
            <a:avLst/>
          </a:prstGeom>
          <a:noFill/>
        </p:spPr>
        <p:txBody>
          <a:bodyPr wrap="square" lIns="45720" rIns="45720" anchor="t">
            <a:spAutoFit/>
          </a:bodyPr>
          <a:lstStyle/>
          <a:p>
            <a:pPr algn="l">
              <a:spcAft>
                <a:spcPts val="600"/>
              </a:spcAft>
            </a:pPr>
            <a:r>
              <a:rPr sz="1800" b="0" i="0">
                <a:solidFill>
                  <a:srgbClr val="2C5697"/>
                </a:solidFill>
                <a:latin typeface="Rubik Medium"/>
              </a:rPr>
              <a:t>Gap: </a:t>
            </a:r>
            <a:r>
              <a:rPr sz="1800" b="0" i="0">
                <a:solidFill>
                  <a:srgbClr val="333333"/>
                </a:solidFill>
              </a:rPr>
              <a:t>measured end to end or on one machine, not per mechanism; NIIS publishes no open performance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Broader work used for the method</a:t>
            </a:r>
          </a:p>
        </p:txBody>
      </p:sp>
      <p:sp>
        <p:nvSpPr>
          <p:cNvPr id="3" name="Rounded Rectangle 2"/>
          <p:cNvSpPr/>
          <p:nvPr/>
        </p:nvSpPr>
        <p:spPr>
          <a:xfrm>
            <a:off x="1280160" y="1645920"/>
            <a:ext cx="4800600" cy="34290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508760" y="1828800"/>
            <a:ext cx="4343400" cy="3200400"/>
          </a:xfrm>
          <a:prstGeom prst="rect">
            <a:avLst/>
          </a:prstGeom>
          <a:noFill/>
        </p:spPr>
        <p:txBody>
          <a:bodyPr wrap="square" lIns="45720" rIns="45720" anchor="t">
            <a:spAutoFit/>
          </a:bodyPr>
          <a:lstStyle/>
          <a:p>
            <a:pPr algn="l">
              <a:spcAft>
                <a:spcPts val="600"/>
              </a:spcAft>
            </a:pPr>
            <a:r>
              <a:rPr sz="1600" b="0" i="0">
                <a:solidFill>
                  <a:srgbClr val="2C5697"/>
                </a:solidFill>
                <a:latin typeface="Rubik Medium"/>
              </a:rPr>
              <a:t>Naylor et al., CoNEXT 2014</a:t>
            </a:r>
          </a:p>
          <a:p>
            <a:pPr algn="l">
              <a:spcAft>
                <a:spcPts val="1200"/>
              </a:spcAft>
            </a:pPr>
            <a:r>
              <a:rPr sz="2200" b="0" i="0">
                <a:solidFill>
                  <a:srgbClr val="333333"/>
                </a:solidFill>
                <a:latin typeface="Rubik Medium"/>
              </a:rPr>
              <a:t>The Cost of the “S” in HTTPS</a:t>
            </a:r>
          </a:p>
          <a:p>
            <a:pPr algn="l">
              <a:spcAft>
                <a:spcPts val="1200"/>
              </a:spcAft>
            </a:pPr>
            <a:r>
              <a:rPr sz="1700" b="0" i="0">
                <a:solidFill>
                  <a:srgbClr val="666666"/>
                </a:solidFill>
              </a:rPr>
              <a:t>TLS cost has two parts: connection setup and per-request work. How connections are used decides the cost per request.</a:t>
            </a:r>
          </a:p>
          <a:p>
            <a:pPr algn="l">
              <a:spcAft>
                <a:spcPts val="600"/>
              </a:spcAft>
            </a:pPr>
            <a:r>
              <a:rPr sz="1600" b="0" i="0">
                <a:solidFill>
                  <a:srgbClr val="333333"/>
                </a:solidFill>
                <a:latin typeface="Rubik Medium"/>
              </a:rPr>
              <a:t>Used for: </a:t>
            </a:r>
            <a:r>
              <a:rPr sz="1600" b="0" i="0">
                <a:solidFill>
                  <a:srgbClr val="666666"/>
                </a:solidFill>
              </a:rPr>
              <a:t>separating the handshake from per-message work (configuration reuse). HTTPS, not X-Road: numbers not compared directly.</a:t>
            </a:r>
          </a:p>
        </p:txBody>
      </p:sp>
      <p:sp>
        <p:nvSpPr>
          <p:cNvPr id="5" name="Rounded Rectangle 4"/>
          <p:cNvSpPr/>
          <p:nvPr/>
        </p:nvSpPr>
        <p:spPr>
          <a:xfrm>
            <a:off x="6355079" y="1645920"/>
            <a:ext cx="4800600" cy="34290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583679" y="1828800"/>
            <a:ext cx="4343400" cy="3200400"/>
          </a:xfrm>
          <a:prstGeom prst="rect">
            <a:avLst/>
          </a:prstGeom>
          <a:noFill/>
        </p:spPr>
        <p:txBody>
          <a:bodyPr wrap="square" lIns="45720" rIns="45720" anchor="t">
            <a:spAutoFit/>
          </a:bodyPr>
          <a:lstStyle/>
          <a:p>
            <a:pPr algn="l">
              <a:spcAft>
                <a:spcPts val="600"/>
              </a:spcAft>
            </a:pPr>
            <a:r>
              <a:rPr sz="1600" b="0" i="0">
                <a:solidFill>
                  <a:srgbClr val="2C5697"/>
                </a:solidFill>
                <a:latin typeface="Rubik Medium"/>
              </a:rPr>
              <a:t>Georges et al., OOPSLA 2007</a:t>
            </a:r>
          </a:p>
          <a:p>
            <a:pPr algn="l">
              <a:spcAft>
                <a:spcPts val="1200"/>
              </a:spcAft>
            </a:pPr>
            <a:r>
              <a:rPr sz="2200" b="0" i="0">
                <a:solidFill>
                  <a:srgbClr val="333333"/>
                </a:solidFill>
                <a:latin typeface="Rubik Medium"/>
              </a:rPr>
              <a:t>Statistically Rigorous Java Performance Evaluation</a:t>
            </a:r>
          </a:p>
          <a:p>
            <a:pPr algn="l">
              <a:spcAft>
                <a:spcPts val="1200"/>
              </a:spcAft>
            </a:pPr>
            <a:r>
              <a:rPr sz="1700" b="0" i="0">
                <a:solidFill>
                  <a:srgbClr val="666666"/>
                </a:solidFill>
              </a:rPr>
              <a:t>JVM timings need warm-up, independent runs, and the spread between runs reported next to the result.</a:t>
            </a:r>
          </a:p>
          <a:p>
            <a:pPr algn="l">
              <a:spcAft>
                <a:spcPts val="600"/>
              </a:spcAft>
            </a:pPr>
            <a:r>
              <a:rPr sz="1600" b="0" i="0">
                <a:solidFill>
                  <a:srgbClr val="333333"/>
                </a:solidFill>
                <a:latin typeface="Rubik Medium"/>
              </a:rPr>
              <a:t>Used for: </a:t>
            </a:r>
            <a:r>
              <a:rPr sz="1600" b="0" i="0">
                <a:solidFill>
                  <a:srgbClr val="666666"/>
                </a:solidFill>
              </a:rPr>
              <a:t>burn-in and warm-up, 5 independent repetitions per grid, randomised order, IQR and range reported.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Configurations actually run</a:t>
            </a:r>
          </a:p>
        </p:txBody>
      </p:sp>
      <p:graphicFrame>
        <p:nvGraphicFramePr>
          <p:cNvPr id="3" name="Table 2"/>
          <p:cNvGraphicFramePr>
            <a:graphicFrameLocks noGrp="1"/>
          </p:cNvGraphicFramePr>
          <p:nvPr/>
        </p:nvGraphicFramePr>
        <p:xfrm>
          <a:off x="1280160" y="1554480"/>
          <a:ext cx="9875519" cy="3328416"/>
        </p:xfrm>
        <a:graphic>
          <a:graphicData uri="http://schemas.openxmlformats.org/drawingml/2006/table">
            <a:tbl>
              <a:tblPr firstRow="1">
                <a:tableStyleId>{5C22544A-7EE6-4342-B048-85BDC9FD1C3A}</a:tableStyleId>
              </a:tblPr>
              <a:tblGrid>
                <a:gridCol w="1580083">
                  <a:extLst>
                    <a:ext uri="{9D8B030D-6E8A-4147-A177-3AD203B41FA5}">
                      <a16:colId xmlns:a16="http://schemas.microsoft.com/office/drawing/2014/main" val="20000"/>
                    </a:ext>
                  </a:extLst>
                </a:gridCol>
                <a:gridCol w="4345228">
                  <a:extLst>
                    <a:ext uri="{9D8B030D-6E8A-4147-A177-3AD203B41FA5}">
                      <a16:colId xmlns:a16="http://schemas.microsoft.com/office/drawing/2014/main" val="20001"/>
                    </a:ext>
                  </a:extLst>
                </a:gridCol>
                <a:gridCol w="3950208">
                  <a:extLst>
                    <a:ext uri="{9D8B030D-6E8A-4147-A177-3AD203B41FA5}">
                      <a16:colId xmlns:a16="http://schemas.microsoft.com/office/drawing/2014/main" val="20002"/>
                    </a:ext>
                  </a:extLst>
                </a:gridCol>
              </a:tblGrid>
              <a:tr h="475488">
                <a:tc>
                  <a:txBody>
                    <a:bodyPr/>
                    <a:lstStyle/>
                    <a:p>
                      <a:pPr algn="l"/>
                      <a:r>
                        <a:rPr sz="1500" b="0">
                          <a:solidFill>
                            <a:srgbClr val="333333"/>
                          </a:solidFill>
                          <a:latin typeface="Rubik Medium"/>
                        </a:rPr>
                        <a:t>Name</a:t>
                      </a:r>
                    </a:p>
                  </a:txBody>
                  <a:tcPr anchor="ctr">
                    <a:solidFill>
                      <a:srgbClr val="E3EBF5"/>
                    </a:solidFill>
                  </a:tcPr>
                </a:tc>
                <a:tc>
                  <a:txBody>
                    <a:bodyPr/>
                    <a:lstStyle/>
                    <a:p>
                      <a:pPr algn="l"/>
                      <a:r>
                        <a:rPr sz="1500" b="0">
                          <a:solidFill>
                            <a:srgbClr val="333333"/>
                          </a:solidFill>
                          <a:latin typeface="Rubik Medium"/>
                        </a:rPr>
                        <a:t>What changes</a:t>
                      </a:r>
                    </a:p>
                  </a:txBody>
                  <a:tcPr anchor="ctr">
                    <a:solidFill>
                      <a:srgbClr val="E3EBF5"/>
                    </a:solidFill>
                  </a:tcPr>
                </a:tc>
                <a:tc>
                  <a:txBody>
                    <a:bodyPr/>
                    <a:lstStyle/>
                    <a:p>
                      <a:pPr algn="l"/>
                      <a:r>
                        <a:rPr sz="1500" b="0">
                          <a:solidFill>
                            <a:srgbClr val="333333"/>
                          </a:solidFill>
                          <a:latin typeface="Rubik Medium"/>
                        </a:rPr>
                        <a:t>What the difference to full shows</a:t>
                      </a:r>
                    </a:p>
                  </a:txBody>
                  <a:tcPr anchor="ctr">
                    <a:solidFill>
                      <a:srgbClr val="E3EBF5"/>
                    </a:solidFill>
                  </a:tcPr>
                </a:tc>
                <a:extLst>
                  <a:ext uri="{0D108BD9-81ED-4DB2-BD59-A6C34878D82A}">
                    <a16:rowId xmlns:a16="http://schemas.microsoft.com/office/drawing/2014/main" val="10000"/>
                  </a:ext>
                </a:extLst>
              </a:tr>
              <a:tr h="475488">
                <a:tc>
                  <a:txBody>
                    <a:bodyPr/>
                    <a:lstStyle/>
                    <a:p>
                      <a:pPr algn="l"/>
                      <a:r>
                        <a:rPr sz="1600" b="0">
                          <a:solidFill>
                            <a:srgbClr val="333333"/>
                          </a:solidFill>
                          <a:latin typeface="Rubik Medium"/>
                        </a:rPr>
                        <a:t>direct</a:t>
                      </a:r>
                    </a:p>
                  </a:txBody>
                  <a:tcPr anchor="ctr">
                    <a:solidFill>
                      <a:srgbClr val="FFFFFF"/>
                    </a:solidFill>
                  </a:tcPr>
                </a:tc>
                <a:tc>
                  <a:txBody>
                    <a:bodyPr/>
                    <a:lstStyle/>
                    <a:p>
                      <a:pPr algn="l"/>
                      <a:r>
                        <a:rPr sz="1600" b="0">
                          <a:solidFill>
                            <a:srgbClr val="333333"/>
                          </a:solidFill>
                        </a:rPr>
                        <a:t>Client calls the echo service, no X-Road</a:t>
                      </a:r>
                    </a:p>
                  </a:txBody>
                  <a:tcPr anchor="ctr">
                    <a:solidFill>
                      <a:srgbClr val="FFFFFF"/>
                    </a:solidFill>
                  </a:tcPr>
                </a:tc>
                <a:tc>
                  <a:txBody>
                    <a:bodyPr/>
                    <a:lstStyle/>
                    <a:p>
                      <a:pPr algn="l"/>
                      <a:r>
                        <a:rPr sz="1600" b="0">
                          <a:solidFill>
                            <a:srgbClr val="333333"/>
                          </a:solidFill>
                        </a:rPr>
                        <a:t>Whole X-Road path (not single operations)</a:t>
                      </a:r>
                    </a:p>
                  </a:txBody>
                  <a:tcPr anchor="ctr">
                    <a:solidFill>
                      <a:srgbClr val="FFFFFF"/>
                    </a:solidFill>
                  </a:tcPr>
                </a:tc>
                <a:extLst>
                  <a:ext uri="{0D108BD9-81ED-4DB2-BD59-A6C34878D82A}">
                    <a16:rowId xmlns:a16="http://schemas.microsoft.com/office/drawing/2014/main" val="10001"/>
                  </a:ext>
                </a:extLst>
              </a:tr>
              <a:tr h="475488">
                <a:tc>
                  <a:txBody>
                    <a:bodyPr/>
                    <a:lstStyle/>
                    <a:p>
                      <a:pPr algn="l"/>
                      <a:r>
                        <a:rPr sz="1600" b="0">
                          <a:solidFill>
                            <a:srgbClr val="333333"/>
                          </a:solidFill>
                          <a:latin typeface="Rubik Medium"/>
                        </a:rPr>
                        <a:t>full</a:t>
                      </a:r>
                    </a:p>
                  </a:txBody>
                  <a:tcPr anchor="ctr">
                    <a:solidFill>
                      <a:srgbClr val="FFFFFF"/>
                    </a:solidFill>
                  </a:tcPr>
                </a:tc>
                <a:tc>
                  <a:txBody>
                    <a:bodyPr/>
                    <a:lstStyle/>
                    <a:p>
                      <a:pPr algn="l"/>
                      <a:r>
                        <a:rPr sz="1600" b="0">
                          <a:solidFill>
                            <a:srgbClr val="333333"/>
                          </a:solidFill>
                        </a:rPr>
                        <a:t>Defaults: signing, logging, batched time-stamps</a:t>
                      </a:r>
                    </a:p>
                  </a:txBody>
                  <a:tcPr anchor="ctr">
                    <a:solidFill>
                      <a:srgbClr val="FFFFFF"/>
                    </a:solidFill>
                  </a:tcPr>
                </a:tc>
                <a:tc>
                  <a:txBody>
                    <a:bodyPr/>
                    <a:lstStyle/>
                    <a:p>
                      <a:pPr algn="l"/>
                      <a:r>
                        <a:rPr sz="1600" b="0">
                          <a:solidFill>
                            <a:srgbClr val="333333"/>
                          </a:solidFill>
                        </a:rPr>
                        <a:t>Reference point</a:t>
                      </a:r>
                    </a:p>
                  </a:txBody>
                  <a:tcPr anchor="ctr">
                    <a:solidFill>
                      <a:srgbClr val="FFFFFF"/>
                    </a:solidFill>
                  </a:tcPr>
                </a:tc>
                <a:extLst>
                  <a:ext uri="{0D108BD9-81ED-4DB2-BD59-A6C34878D82A}">
                    <a16:rowId xmlns:a16="http://schemas.microsoft.com/office/drawing/2014/main" val="10002"/>
                  </a:ext>
                </a:extLst>
              </a:tr>
              <a:tr h="475488">
                <a:tc>
                  <a:txBody>
                    <a:bodyPr/>
                    <a:lstStyle/>
                    <a:p>
                      <a:pPr algn="l"/>
                      <a:r>
                        <a:rPr sz="1600" b="0">
                          <a:solidFill>
                            <a:srgbClr val="333333"/>
                          </a:solidFill>
                          <a:latin typeface="Rubik Medium"/>
                        </a:rPr>
                        <a:t>nobody</a:t>
                      </a:r>
                    </a:p>
                  </a:txBody>
                  <a:tcPr anchor="ctr">
                    <a:solidFill>
                      <a:srgbClr val="FFFFFF"/>
                    </a:solidFill>
                  </a:tcPr>
                </a:tc>
                <a:tc>
                  <a:txBody>
                    <a:bodyPr/>
                    <a:lstStyle/>
                    <a:p>
                      <a:pPr algn="l"/>
                      <a:r>
                        <a:rPr sz="1600" b="0">
                          <a:solidFill>
                            <a:srgbClr val="333333"/>
                          </a:solidFill>
                        </a:rPr>
                        <a:t>Message bodies not written to the log</a:t>
                      </a:r>
                    </a:p>
                  </a:txBody>
                  <a:tcPr anchor="ctr">
                    <a:solidFill>
                      <a:srgbClr val="FFFFFF"/>
                    </a:solidFill>
                  </a:tcPr>
                </a:tc>
                <a:tc>
                  <a:txBody>
                    <a:bodyPr/>
                    <a:lstStyle/>
                    <a:p>
                      <a:pPr algn="l"/>
                      <a:r>
                        <a:rPr sz="1600" b="0">
                          <a:solidFill>
                            <a:srgbClr val="333333"/>
                          </a:solidFill>
                        </a:rPr>
                        <a:t>Cost of logging bodies only</a:t>
                      </a:r>
                    </a:p>
                  </a:txBody>
                  <a:tcPr anchor="ctr">
                    <a:solidFill>
                      <a:srgbClr val="FFFFFF"/>
                    </a:solidFill>
                  </a:tcPr>
                </a:tc>
                <a:extLst>
                  <a:ext uri="{0D108BD9-81ED-4DB2-BD59-A6C34878D82A}">
                    <a16:rowId xmlns:a16="http://schemas.microsoft.com/office/drawing/2014/main" val="10003"/>
                  </a:ext>
                </a:extLst>
              </a:tr>
              <a:tr h="475488">
                <a:tc>
                  <a:txBody>
                    <a:bodyPr/>
                    <a:lstStyle/>
                    <a:p>
                      <a:pPr algn="l"/>
                      <a:r>
                        <a:rPr sz="1600" b="0">
                          <a:solidFill>
                            <a:srgbClr val="333333"/>
                          </a:solidFill>
                          <a:latin typeface="Rubik Medium"/>
                        </a:rPr>
                        <a:t>synctsa</a:t>
                      </a:r>
                    </a:p>
                  </a:txBody>
                  <a:tcPr anchor="ctr">
                    <a:solidFill>
                      <a:srgbClr val="FFFFFF"/>
                    </a:solidFill>
                  </a:tcPr>
                </a:tc>
                <a:tc>
                  <a:txBody>
                    <a:bodyPr/>
                    <a:lstStyle/>
                    <a:p>
                      <a:pPr algn="l"/>
                      <a:r>
                        <a:rPr sz="1600" b="0">
                          <a:solidFill>
                            <a:srgbClr val="333333"/>
                          </a:solidFill>
                        </a:rPr>
                        <a:t>Time-stamp on every message, synchronously</a:t>
                      </a:r>
                    </a:p>
                  </a:txBody>
                  <a:tcPr anchor="ctr">
                    <a:solidFill>
                      <a:srgbClr val="FFFFFF"/>
                    </a:solidFill>
                  </a:tcPr>
                </a:tc>
                <a:tc>
                  <a:txBody>
                    <a:bodyPr/>
                    <a:lstStyle/>
                    <a:p>
                      <a:pPr algn="l"/>
                      <a:r>
                        <a:rPr sz="1600" b="0">
                          <a:solidFill>
                            <a:srgbClr val="333333"/>
                          </a:solidFill>
                        </a:rPr>
                        <a:t>A different policy, not “the cost of TSA”</a:t>
                      </a:r>
                    </a:p>
                  </a:txBody>
                  <a:tcPr anchor="ctr">
                    <a:solidFill>
                      <a:srgbClr val="FFFFFF"/>
                    </a:solidFill>
                  </a:tcPr>
                </a:tc>
                <a:extLst>
                  <a:ext uri="{0D108BD9-81ED-4DB2-BD59-A6C34878D82A}">
                    <a16:rowId xmlns:a16="http://schemas.microsoft.com/office/drawing/2014/main" val="10004"/>
                  </a:ext>
                </a:extLst>
              </a:tr>
              <a:tr h="475488">
                <a:tc>
                  <a:txBody>
                    <a:bodyPr/>
                    <a:lstStyle/>
                    <a:p>
                      <a:pPr algn="l"/>
                      <a:r>
                        <a:rPr sz="1600" b="0">
                          <a:solidFill>
                            <a:srgbClr val="333333"/>
                          </a:solidFill>
                          <a:latin typeface="Rubik Medium"/>
                        </a:rPr>
                        <a:t>reuse</a:t>
                      </a:r>
                    </a:p>
                  </a:txBody>
                  <a:tcPr anchor="ctr">
                    <a:solidFill>
                      <a:srgbClr val="FFFFFF"/>
                    </a:solidFill>
                  </a:tcPr>
                </a:tc>
                <a:tc>
                  <a:txBody>
                    <a:bodyPr/>
                    <a:lstStyle/>
                    <a:p>
                      <a:pPr algn="l"/>
                      <a:r>
                        <a:rPr sz="1600" b="0">
                          <a:solidFill>
                            <a:srgbClr val="333333"/>
                          </a:solidFill>
                        </a:rPr>
                        <a:t>Connections between SS kept and reused</a:t>
                      </a:r>
                    </a:p>
                  </a:txBody>
                  <a:tcPr anchor="ctr">
                    <a:solidFill>
                      <a:srgbClr val="FFFFFF"/>
                    </a:solidFill>
                  </a:tcPr>
                </a:tc>
                <a:tc>
                  <a:txBody>
                    <a:bodyPr/>
                    <a:lstStyle/>
                    <a:p>
                      <a:pPr algn="l"/>
                      <a:r>
                        <a:rPr sz="1600" b="0">
                          <a:solidFill>
                            <a:srgbClr val="333333"/>
                          </a:solidFill>
                        </a:rPr>
                        <a:t>Per-message TLS handshake</a:t>
                      </a:r>
                    </a:p>
                  </a:txBody>
                  <a:tcPr anchor="ctr">
                    <a:solidFill>
                      <a:srgbClr val="FFFFFF"/>
                    </a:solidFill>
                  </a:tcPr>
                </a:tc>
                <a:extLst>
                  <a:ext uri="{0D108BD9-81ED-4DB2-BD59-A6C34878D82A}">
                    <a16:rowId xmlns:a16="http://schemas.microsoft.com/office/drawing/2014/main" val="10005"/>
                  </a:ext>
                </a:extLst>
              </a:tr>
              <a:tr h="475488">
                <a:tc>
                  <a:txBody>
                    <a:bodyPr/>
                    <a:lstStyle/>
                    <a:p>
                      <a:pPr algn="l"/>
                      <a:r>
                        <a:rPr sz="1600" b="0">
                          <a:solidFill>
                            <a:srgbClr val="333333"/>
                          </a:solidFill>
                          <a:latin typeface="Rubik Medium"/>
                        </a:rPr>
                        <a:t>full+ss3</a:t>
                      </a:r>
                    </a:p>
                  </a:txBody>
                  <a:tcPr anchor="ctr">
                    <a:solidFill>
                      <a:srgbClr val="FFFFFF"/>
                    </a:solidFill>
                  </a:tcPr>
                </a:tc>
                <a:tc>
                  <a:txBody>
                    <a:bodyPr/>
                    <a:lstStyle/>
                    <a:p>
                      <a:pPr algn="l"/>
                      <a:r>
                        <a:rPr sz="1600" b="0">
                          <a:solidFill>
                            <a:srgbClr val="333333"/>
                          </a:solidFill>
                        </a:rPr>
                        <a:t>Load split over two provider SS</a:t>
                      </a:r>
                    </a:p>
                  </a:txBody>
                  <a:tcPr anchor="ctr">
                    <a:solidFill>
                      <a:srgbClr val="FFFFFF"/>
                    </a:solidFill>
                  </a:tcPr>
                </a:tc>
                <a:tc>
                  <a:txBody>
                    <a:bodyPr/>
                    <a:lstStyle/>
                    <a:p>
                      <a:pPr algn="l"/>
                      <a:r>
                        <a:rPr sz="1600" b="0">
                          <a:solidFill>
                            <a:srgbClr val="333333"/>
                          </a:solidFill>
                        </a:rPr>
                        <a:t>Consumer-side limits under load</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4" name="TextBox 3"/>
          <p:cNvSpPr txBox="1"/>
          <p:nvPr/>
        </p:nvSpPr>
        <p:spPr>
          <a:xfrm>
            <a:off x="1280160" y="5486400"/>
            <a:ext cx="9875520" cy="731520"/>
          </a:xfrm>
          <a:prstGeom prst="rect">
            <a:avLst/>
          </a:prstGeom>
          <a:noFill/>
        </p:spPr>
        <p:txBody>
          <a:bodyPr wrap="square" lIns="45720" rIns="45720" anchor="t">
            <a:spAutoFit/>
          </a:bodyPr>
          <a:lstStyle/>
          <a:p>
            <a:pPr algn="l">
              <a:spcAft>
                <a:spcPts val="600"/>
              </a:spcAft>
            </a:pPr>
            <a:r>
              <a:rPr sz="1700" b="0" i="0">
                <a:solidFill>
                  <a:srgbClr val="2C5697"/>
                </a:solidFill>
                <a:latin typeface="Rubik Medium"/>
              </a:rPr>
              <a:t>Dropped: </a:t>
            </a:r>
            <a:r>
              <a:rPr sz="1700" b="0" i="0">
                <a:solidFill>
                  <a:srgbClr val="666666"/>
                </a:solidFill>
              </a:rPr>
              <a:t>notsa (interval outside the documented constraint) and short OCSP freshness (every request failed, gives no OCSP estimate).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Metrics and procedure</a:t>
            </a:r>
          </a:p>
        </p:txBody>
      </p:sp>
      <p:sp>
        <p:nvSpPr>
          <p:cNvPr id="3" name="Rounded Rectangle 2"/>
          <p:cNvSpPr/>
          <p:nvPr/>
        </p:nvSpPr>
        <p:spPr>
          <a:xfrm>
            <a:off x="1280160" y="1600200"/>
            <a:ext cx="4800600" cy="406908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481328" y="1764792"/>
            <a:ext cx="4398264" cy="3794760"/>
          </a:xfrm>
          <a:prstGeom prst="rect">
            <a:avLst/>
          </a:prstGeom>
          <a:noFill/>
        </p:spPr>
        <p:txBody>
          <a:bodyPr wrap="square" lIns="45720" rIns="45720" anchor="t">
            <a:spAutoFit/>
          </a:bodyPr>
          <a:lstStyle/>
          <a:p>
            <a:pPr algn="l">
              <a:spcAft>
                <a:spcPts val="800"/>
              </a:spcAft>
            </a:pPr>
            <a:r>
              <a:rPr sz="2000" b="0" i="0">
                <a:solidFill>
                  <a:srgbClr val="333333"/>
                </a:solidFill>
                <a:latin typeface="Rubik Medium"/>
              </a:rPr>
              <a:t>Metrics</a:t>
            </a:r>
          </a:p>
          <a:p>
            <a:pPr marL="219456" indent="-219456" algn="l">
              <a:spcAft>
                <a:spcPts val="500"/>
              </a:spcAft>
              <a:buChar char="•"/>
            </a:pPr>
            <a:r>
              <a:rPr sz="1700" b="0" i="0">
                <a:solidFill>
                  <a:srgbClr val="666666"/>
                </a:solidFill>
              </a:rPr>
              <a:t>p50 / p90 / p99 latency, requests per second</a:t>
            </a:r>
          </a:p>
          <a:p>
            <a:pPr marL="219456" indent="-219456" algn="l">
              <a:spcAft>
                <a:spcPts val="500"/>
              </a:spcAft>
              <a:buChar char="•"/>
            </a:pPr>
            <a:r>
              <a:rPr sz="1700" b="0" i="0">
                <a:solidFill>
                  <a:srgbClr val="666666"/>
                </a:solidFill>
              </a:rPr>
              <a:t>run-to-run spread: IQR and range</a:t>
            </a:r>
          </a:p>
          <a:p>
            <a:pPr marL="219456" indent="-219456" algn="l">
              <a:spcAft>
                <a:spcPts val="500"/>
              </a:spcAft>
              <a:buChar char="•"/>
            </a:pPr>
            <a:r>
              <a:rPr sz="1700" b="0" i="0">
                <a:solidFill>
                  <a:srgbClr val="666666"/>
                </a:solidFill>
              </a:rPr>
              <a:t>successful requests (HTTP 200)</a:t>
            </a:r>
          </a:p>
          <a:p>
            <a:pPr marL="219456" indent="-219456" algn="l">
              <a:spcAft>
                <a:spcPts val="500"/>
              </a:spcAft>
              <a:buChar char="•"/>
            </a:pPr>
            <a:r>
              <a:rPr sz="1700" b="0" i="0">
                <a:solidFill>
                  <a:srgbClr val="666666"/>
                </a:solidFill>
              </a:rPr>
              <a:t>bytes on the ss1 ↔ ss2 link only</a:t>
            </a:r>
          </a:p>
          <a:p>
            <a:pPr marL="219456" indent="-219456" algn="l">
              <a:spcAft>
                <a:spcPts val="500"/>
              </a:spcAft>
              <a:buChar char="•"/>
            </a:pPr>
            <a:r>
              <a:rPr sz="1700" b="0" i="0">
                <a:solidFill>
                  <a:srgbClr val="666666"/>
                </a:solidFill>
              </a:rPr>
              <a:t>TSA and OCSP calls per run</a:t>
            </a:r>
          </a:p>
          <a:p>
            <a:pPr marL="219456" indent="-219456" algn="l">
              <a:spcAft>
                <a:spcPts val="500"/>
              </a:spcAft>
              <a:buChar char="•"/>
            </a:pPr>
            <a:r>
              <a:rPr sz="1700" b="0" i="0">
                <a:solidFill>
                  <a:srgbClr val="666666"/>
                </a:solidFill>
              </a:rPr>
              <a:t>message-log growth per message</a:t>
            </a:r>
          </a:p>
          <a:p>
            <a:pPr marL="219456" indent="-219456" algn="l">
              <a:spcAft>
                <a:spcPts val="500"/>
              </a:spcAft>
              <a:buChar char="•"/>
            </a:pPr>
            <a:r>
              <a:rPr sz="1700" b="0" i="0">
                <a:solidFill>
                  <a:srgbClr val="666666"/>
                </a:solidFill>
              </a:rPr>
              <a:t>per-stage times from operational monitoring</a:t>
            </a:r>
          </a:p>
        </p:txBody>
      </p:sp>
      <p:sp>
        <p:nvSpPr>
          <p:cNvPr id="5" name="Rounded Rectangle 4"/>
          <p:cNvSpPr/>
          <p:nvPr/>
        </p:nvSpPr>
        <p:spPr>
          <a:xfrm>
            <a:off x="6355080" y="1600200"/>
            <a:ext cx="4800600" cy="406908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556248" y="1764792"/>
            <a:ext cx="4398264" cy="3794760"/>
          </a:xfrm>
          <a:prstGeom prst="rect">
            <a:avLst/>
          </a:prstGeom>
          <a:noFill/>
        </p:spPr>
        <p:txBody>
          <a:bodyPr wrap="square" lIns="45720" rIns="45720" anchor="t">
            <a:spAutoFit/>
          </a:bodyPr>
          <a:lstStyle/>
          <a:p>
            <a:pPr algn="l">
              <a:spcAft>
                <a:spcPts val="800"/>
              </a:spcAft>
            </a:pPr>
            <a:r>
              <a:rPr sz="2000" b="0" i="0">
                <a:solidFill>
                  <a:srgbClr val="333333"/>
                </a:solidFill>
                <a:latin typeface="Rubik Medium"/>
              </a:rPr>
              <a:t>Procedure</a:t>
            </a:r>
          </a:p>
          <a:p>
            <a:pPr marL="219456" indent="-219456" algn="l">
              <a:spcAft>
                <a:spcPts val="500"/>
              </a:spcAft>
              <a:buChar char="•"/>
            </a:pPr>
            <a:r>
              <a:rPr sz="1700" b="0" i="0">
                <a:solidFill>
                  <a:srgbClr val="666666"/>
                </a:solidFill>
              </a:rPr>
              <a:t>10 KB and 1 MB at 1 client; 10 KB at 4, 16, 32 clients</a:t>
            </a:r>
          </a:p>
          <a:p>
            <a:pPr marL="219456" indent="-219456" algn="l">
              <a:spcAft>
                <a:spcPts val="500"/>
              </a:spcAft>
              <a:buChar char="•"/>
            </a:pPr>
            <a:r>
              <a:rPr sz="1700" b="0" i="0">
                <a:solidFill>
                  <a:srgbClr val="666666"/>
                </a:solidFill>
              </a:rPr>
              <a:t>burn-in after each configuration change, then warm-up</a:t>
            </a:r>
          </a:p>
          <a:p>
            <a:pPr marL="219456" indent="-219456" algn="l">
              <a:spcAft>
                <a:spcPts val="500"/>
              </a:spcAft>
              <a:buChar char="•"/>
            </a:pPr>
            <a:r>
              <a:rPr sz="1700" b="0" i="0">
                <a:solidFill>
                  <a:srgbClr val="666666"/>
                </a:solidFill>
              </a:rPr>
              <a:t>1000 requests per run (200 at 1 MB)</a:t>
            </a:r>
          </a:p>
          <a:p>
            <a:pPr marL="219456" indent="-219456" algn="l">
              <a:spcAft>
                <a:spcPts val="500"/>
              </a:spcAft>
              <a:buChar char="•"/>
            </a:pPr>
            <a:r>
              <a:rPr sz="1700" b="0" i="0">
                <a:solidFill>
                  <a:srgbClr val="666666"/>
                </a:solidFill>
              </a:rPr>
              <a:t>5 repetitions per grid, random order</a:t>
            </a:r>
          </a:p>
          <a:p>
            <a:pPr marL="219456" indent="-219456" algn="l">
              <a:spcAft>
                <a:spcPts val="500"/>
              </a:spcAft>
              <a:buChar char="•"/>
            </a:pPr>
            <a:r>
              <a:rPr sz="1700" b="0" i="0">
                <a:solidFill>
                  <a:srgbClr val="666666"/>
                </a:solidFill>
              </a:rPr>
              <a:t>control run at the start of every repetition</a:t>
            </a:r>
          </a:p>
          <a:p>
            <a:pPr marL="219456" indent="-219456" algn="l">
              <a:spcAft>
                <a:spcPts val="500"/>
              </a:spcAft>
              <a:buChar char="•"/>
            </a:pPr>
            <a:r>
              <a:rPr sz="1700" b="0" i="0">
                <a:solidFill>
                  <a:srgbClr val="666666"/>
                </a:solidFill>
              </a:rPr>
              <a:t>wait for batch time-stamps, then clean the log</a:t>
            </a:r>
          </a:p>
          <a:p>
            <a:pPr marL="219456" indent="-219456" algn="l">
              <a:spcAft>
                <a:spcPts val="500"/>
              </a:spcAft>
              <a:buChar char="•"/>
            </a:pPr>
            <a:r>
              <a:rPr sz="1700" b="0" i="0">
                <a:solidFill>
                  <a:srgbClr val="666666"/>
                </a:solidFill>
              </a:rPr>
              <a:t>CPU performance mode, recorded per run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Testbed: three wired machines</a:t>
            </a:r>
          </a:p>
        </p:txBody>
      </p:sp>
      <p:sp>
        <p:nvSpPr>
          <p:cNvPr id="3" name="Rounded Rectangle 2"/>
          <p:cNvSpPr/>
          <p:nvPr/>
        </p:nvSpPr>
        <p:spPr>
          <a:xfrm>
            <a:off x="1280160" y="1600200"/>
            <a:ext cx="3108960" cy="1600200"/>
          </a:xfrm>
          <a:prstGeom prst="roundRect">
            <a:avLst>
              <a:gd name="adj" fmla="val 6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463039" y="1737360"/>
            <a:ext cx="2743200" cy="1371600"/>
          </a:xfrm>
          <a:prstGeom prst="rect">
            <a:avLst/>
          </a:prstGeom>
          <a:noFill/>
        </p:spPr>
        <p:txBody>
          <a:bodyPr wrap="square" lIns="45720" rIns="45720" anchor="t">
            <a:spAutoFit/>
          </a:bodyPr>
          <a:lstStyle/>
          <a:p>
            <a:pPr algn="l">
              <a:spcAft>
                <a:spcPts val="600"/>
              </a:spcAft>
            </a:pPr>
            <a:r>
              <a:rPr sz="1900" b="0" i="0">
                <a:solidFill>
                  <a:srgbClr val="333333"/>
                </a:solidFill>
                <a:latin typeface="Rubik Medium"/>
              </a:rPr>
              <a:t>l1 · 10.10.0.1</a:t>
            </a:r>
          </a:p>
          <a:p>
            <a:pPr algn="l">
              <a:spcAft>
                <a:spcPts val="600"/>
              </a:spcAft>
            </a:pPr>
            <a:r>
              <a:rPr sz="1500" b="0" i="0">
                <a:solidFill>
                  <a:srgbClr val="666666"/>
                </a:solidFill>
              </a:rPr>
              <a:t>Central Server, test CA (OCSP, TSA), management SS, provider B (ss3) + echo</a:t>
            </a:r>
          </a:p>
        </p:txBody>
      </p:sp>
      <p:cxnSp>
        <p:nvCxnSpPr>
          <p:cNvPr id="5" name="Connector 4"/>
          <p:cNvCxnSpPr/>
          <p:nvPr/>
        </p:nvCxnSpPr>
        <p:spPr>
          <a:xfrm>
            <a:off x="2834640" y="3200400"/>
            <a:ext cx="0" cy="411480"/>
          </a:xfrm>
          <a:prstGeom prst="line">
            <a:avLst/>
          </a:prstGeom>
          <a:ln w="31750">
            <a:solidFill>
              <a:srgbClr val="1B365D"/>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663440" y="1600200"/>
            <a:ext cx="3108960" cy="1600200"/>
          </a:xfrm>
          <a:prstGeom prst="roundRect">
            <a:avLst>
              <a:gd name="adj" fmla="val 6000"/>
            </a:avLst>
          </a:prstGeom>
          <a:solidFill>
            <a:srgbClr val="FFFFFF"/>
          </a:solidFill>
          <a:ln w="25400">
            <a:solidFill>
              <a:srgbClr val="FF572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4846320" y="1737360"/>
            <a:ext cx="2743200" cy="1371600"/>
          </a:xfrm>
          <a:prstGeom prst="rect">
            <a:avLst/>
          </a:prstGeom>
          <a:noFill/>
        </p:spPr>
        <p:txBody>
          <a:bodyPr wrap="square" lIns="45720" rIns="45720" anchor="t">
            <a:spAutoFit/>
          </a:bodyPr>
          <a:lstStyle/>
          <a:p>
            <a:pPr algn="l">
              <a:spcAft>
                <a:spcPts val="600"/>
              </a:spcAft>
            </a:pPr>
            <a:r>
              <a:rPr sz="1900" b="0" i="0">
                <a:solidFill>
                  <a:srgbClr val="333333"/>
                </a:solidFill>
                <a:latin typeface="Rubik Medium"/>
              </a:rPr>
              <a:t>l2 · 10.10.0.2</a:t>
            </a:r>
          </a:p>
          <a:p>
            <a:pPr algn="l">
              <a:spcAft>
                <a:spcPts val="600"/>
              </a:spcAft>
            </a:pPr>
            <a:r>
              <a:rPr sz="1500" b="0" i="0">
                <a:solidFill>
                  <a:srgbClr val="666666"/>
                </a:solidFill>
              </a:rPr>
              <a:t>Consumer SS (ss1) and the k6 load generator; runs the benchmark</a:t>
            </a:r>
          </a:p>
        </p:txBody>
      </p:sp>
      <p:cxnSp>
        <p:nvCxnSpPr>
          <p:cNvPr id="8" name="Connector 7"/>
          <p:cNvCxnSpPr/>
          <p:nvPr/>
        </p:nvCxnSpPr>
        <p:spPr>
          <a:xfrm>
            <a:off x="6217920" y="3200400"/>
            <a:ext cx="0" cy="411480"/>
          </a:xfrm>
          <a:prstGeom prst="line">
            <a:avLst/>
          </a:prstGeom>
          <a:ln w="31750">
            <a:solidFill>
              <a:srgbClr val="1B365D"/>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8046720" y="1600200"/>
            <a:ext cx="3108960" cy="1600200"/>
          </a:xfrm>
          <a:prstGeom prst="roundRect">
            <a:avLst>
              <a:gd name="adj" fmla="val 6000"/>
            </a:avLst>
          </a:prstGeom>
          <a:solidFill>
            <a:srgbClr val="FFFFFF"/>
          </a:solidFill>
          <a:ln w="25400">
            <a:solidFill>
              <a:srgbClr val="1B365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229600" y="1737360"/>
            <a:ext cx="2743200" cy="1371600"/>
          </a:xfrm>
          <a:prstGeom prst="rect">
            <a:avLst/>
          </a:prstGeom>
          <a:noFill/>
        </p:spPr>
        <p:txBody>
          <a:bodyPr wrap="square" lIns="45720" rIns="45720" anchor="t">
            <a:spAutoFit/>
          </a:bodyPr>
          <a:lstStyle/>
          <a:p>
            <a:pPr algn="l">
              <a:spcAft>
                <a:spcPts val="600"/>
              </a:spcAft>
            </a:pPr>
            <a:r>
              <a:rPr sz="1900" b="0" i="0">
                <a:solidFill>
                  <a:srgbClr val="333333"/>
                </a:solidFill>
                <a:latin typeface="Rubik Medium"/>
              </a:rPr>
              <a:t>l3 · 10.10.0.3</a:t>
            </a:r>
          </a:p>
          <a:p>
            <a:pPr algn="l">
              <a:spcAft>
                <a:spcPts val="600"/>
              </a:spcAft>
            </a:pPr>
            <a:r>
              <a:rPr sz="1500" b="0" i="0">
                <a:solidFill>
                  <a:srgbClr val="666666"/>
                </a:solidFill>
              </a:rPr>
              <a:t>Provider A (ss2) and the echo information system</a:t>
            </a:r>
          </a:p>
        </p:txBody>
      </p:sp>
      <p:cxnSp>
        <p:nvCxnSpPr>
          <p:cNvPr id="11" name="Connector 10"/>
          <p:cNvCxnSpPr/>
          <p:nvPr/>
        </p:nvCxnSpPr>
        <p:spPr>
          <a:xfrm>
            <a:off x="9601200" y="3200400"/>
            <a:ext cx="0" cy="411480"/>
          </a:xfrm>
          <a:prstGeom prst="line">
            <a:avLst/>
          </a:prstGeom>
          <a:ln w="31750">
            <a:solidFill>
              <a:srgbClr val="1B365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80160" y="3611880"/>
            <a:ext cx="9875520" cy="384048"/>
          </a:xfrm>
          <a:prstGeom prst="roundRect">
            <a:avLst>
              <a:gd name="adj" fmla="val 50000"/>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280160" y="3611880"/>
            <a:ext cx="9875520" cy="384048"/>
          </a:xfrm>
          <a:prstGeom prst="rect">
            <a:avLst/>
          </a:prstGeom>
          <a:noFill/>
        </p:spPr>
        <p:txBody>
          <a:bodyPr wrap="square" lIns="45720" rIns="45720" anchor="ctr">
            <a:spAutoFit/>
          </a:bodyPr>
          <a:lstStyle/>
          <a:p>
            <a:pPr algn="ctr">
              <a:spcAft>
                <a:spcPts val="600"/>
              </a:spcAft>
            </a:pPr>
            <a:r>
              <a:rPr sz="1500" b="0" i="0">
                <a:solidFill>
                  <a:srgbClr val="FFFFFF"/>
                </a:solidFill>
                <a:latin typeface="Rubik Medium"/>
              </a:rPr>
              <a:t>Gigabit switch · subnet 10.10.0.0/24 for all Security Server traffic</a:t>
            </a:r>
          </a:p>
        </p:txBody>
      </p:sp>
      <p:sp>
        <p:nvSpPr>
          <p:cNvPr id="14" name="TextBox 13"/>
          <p:cNvSpPr txBox="1"/>
          <p:nvPr/>
        </p:nvSpPr>
        <p:spPr>
          <a:xfrm>
            <a:off x="1280160" y="4251960"/>
            <a:ext cx="9875520" cy="1828800"/>
          </a:xfrm>
          <a:prstGeom prst="rect">
            <a:avLst/>
          </a:prstGeom>
          <a:noFill/>
        </p:spPr>
        <p:txBody>
          <a:bodyPr wrap="square" lIns="45720" rIns="45720" anchor="t">
            <a:spAutoFit/>
          </a:bodyPr>
          <a:lstStyle/>
          <a:p>
            <a:pPr marL="219456" indent="-219456" algn="l">
              <a:spcAft>
                <a:spcPts val="600"/>
              </a:spcAft>
              <a:buChar char="•"/>
            </a:pPr>
            <a:r>
              <a:rPr sz="1600" b="0" i="0">
                <a:solidFill>
                  <a:srgbClr val="666666"/>
                </a:solidFill>
              </a:rPr>
              <a:t>Each container has its own 10.10.0.x address (ipvlan): no NAT, no port publishing, no extra MAC addresses on the university network</a:t>
            </a:r>
          </a:p>
          <a:p>
            <a:pPr marL="219456" indent="-219456" algn="l">
              <a:spcAft>
                <a:spcPts val="600"/>
              </a:spcAft>
              <a:buChar char="•"/>
            </a:pPr>
            <a:r>
              <a:rPr sz="1600" b="0" i="0">
                <a:solidFill>
                  <a:srgbClr val="666666"/>
                </a:solidFill>
              </a:rPr>
              <a:t>Three Intel i5-8250U laptops; CPU in performance mode; clocks synchronised with chrony</a:t>
            </a:r>
          </a:p>
          <a:p>
            <a:pPr marL="219456" indent="-219456" algn="l">
              <a:spcAft>
                <a:spcPts val="600"/>
              </a:spcAft>
              <a:buChar char="•"/>
            </a:pPr>
            <a:r>
              <a:rPr sz="1600" b="0" i="0">
                <a:solidFill>
                  <a:srgbClr val="666666"/>
                </a:solidFill>
              </a:rPr>
              <a:t>Remote access over the university VPN; the same stand is also run on one host for comparison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Preliminary results, one client</a:t>
            </a:r>
          </a:p>
        </p:txBody>
      </p:sp>
      <p:graphicFrame>
        <p:nvGraphicFramePr>
          <p:cNvPr id="3" name="Table 2"/>
          <p:cNvGraphicFramePr>
            <a:graphicFrameLocks noGrp="1"/>
          </p:cNvGraphicFramePr>
          <p:nvPr/>
        </p:nvGraphicFramePr>
        <p:xfrm>
          <a:off x="1280160" y="1600200"/>
          <a:ext cx="9875519" cy="2743200"/>
        </p:xfrm>
        <a:graphic>
          <a:graphicData uri="http://schemas.openxmlformats.org/drawingml/2006/table">
            <a:tbl>
              <a:tblPr firstRow="1">
                <a:tableStyleId>{5C22544A-7EE6-4342-B048-85BDC9FD1C3A}</a:tableStyleId>
              </a:tblPr>
              <a:tblGrid>
                <a:gridCol w="1580083">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678838">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1678838">
                  <a:extLst>
                    <a:ext uri="{9D8B030D-6E8A-4147-A177-3AD203B41FA5}">
                      <a16:colId xmlns:a16="http://schemas.microsoft.com/office/drawing/2014/main" val="20004"/>
                    </a:ext>
                  </a:extLst>
                </a:gridCol>
              </a:tblGrid>
              <a:tr h="457200">
                <a:tc>
                  <a:txBody>
                    <a:bodyPr/>
                    <a:lstStyle/>
                    <a:p>
                      <a:pPr algn="l"/>
                      <a:r>
                        <a:rPr sz="1600" b="0">
                          <a:solidFill>
                            <a:srgbClr val="333333"/>
                          </a:solidFill>
                          <a:latin typeface="Rubik Medium"/>
                        </a:rPr>
                        <a:t>Config</a:t>
                      </a:r>
                    </a:p>
                  </a:txBody>
                  <a:tcPr anchor="ctr">
                    <a:solidFill>
                      <a:srgbClr val="E3EBF5"/>
                    </a:solidFill>
                  </a:tcPr>
                </a:tc>
                <a:tc>
                  <a:txBody>
                    <a:bodyPr/>
                    <a:lstStyle/>
                    <a:p>
                      <a:pPr algn="r"/>
                      <a:r>
                        <a:rPr sz="1600" b="0">
                          <a:solidFill>
                            <a:srgbClr val="333333"/>
                          </a:solidFill>
                          <a:latin typeface="Rubik Medium"/>
                        </a:rPr>
                        <a:t>10 KB p50</a:t>
                      </a:r>
                    </a:p>
                  </a:txBody>
                  <a:tcPr anchor="ctr">
                    <a:solidFill>
                      <a:srgbClr val="E3EBF5"/>
                    </a:solidFill>
                  </a:tcPr>
                </a:tc>
                <a:tc>
                  <a:txBody>
                    <a:bodyPr/>
                    <a:lstStyle/>
                    <a:p>
                      <a:pPr algn="r"/>
                      <a:r>
                        <a:rPr sz="1600" b="0">
                          <a:solidFill>
                            <a:srgbClr val="333333"/>
                          </a:solidFill>
                          <a:latin typeface="Rubik Medium"/>
                        </a:rPr>
                        <a:t>Δ vs full</a:t>
                      </a:r>
                    </a:p>
                  </a:txBody>
                  <a:tcPr anchor="ctr">
                    <a:solidFill>
                      <a:srgbClr val="E3EBF5"/>
                    </a:solidFill>
                  </a:tcPr>
                </a:tc>
                <a:tc>
                  <a:txBody>
                    <a:bodyPr/>
                    <a:lstStyle/>
                    <a:p>
                      <a:pPr algn="r"/>
                      <a:r>
                        <a:rPr sz="1600" b="0">
                          <a:solidFill>
                            <a:srgbClr val="333333"/>
                          </a:solidFill>
                          <a:latin typeface="Rubik Medium"/>
                        </a:rPr>
                        <a:t>1 MB p50</a:t>
                      </a:r>
                    </a:p>
                  </a:txBody>
                  <a:tcPr anchor="ctr">
                    <a:solidFill>
                      <a:srgbClr val="E3EBF5"/>
                    </a:solidFill>
                  </a:tcPr>
                </a:tc>
                <a:tc>
                  <a:txBody>
                    <a:bodyPr/>
                    <a:lstStyle/>
                    <a:p>
                      <a:pPr algn="r"/>
                      <a:r>
                        <a:rPr sz="1600" b="0">
                          <a:solidFill>
                            <a:srgbClr val="333333"/>
                          </a:solidFill>
                          <a:latin typeface="Rubik Medium"/>
                        </a:rPr>
                        <a:t>Δ vs full</a:t>
                      </a:r>
                    </a:p>
                  </a:txBody>
                  <a:tcPr anchor="ctr">
                    <a:solidFill>
                      <a:srgbClr val="E3EBF5"/>
                    </a:solidFill>
                  </a:tcPr>
                </a:tc>
                <a:extLst>
                  <a:ext uri="{0D108BD9-81ED-4DB2-BD59-A6C34878D82A}">
                    <a16:rowId xmlns:a16="http://schemas.microsoft.com/office/drawing/2014/main" val="10000"/>
                  </a:ext>
                </a:extLst>
              </a:tr>
              <a:tr h="457200">
                <a:tc>
                  <a:txBody>
                    <a:bodyPr/>
                    <a:lstStyle/>
                    <a:p>
                      <a:pPr algn="l"/>
                      <a:r>
                        <a:rPr sz="1700" b="0">
                          <a:solidFill>
                            <a:srgbClr val="333333"/>
                          </a:solidFill>
                        </a:rPr>
                        <a:t>direct</a:t>
                      </a:r>
                    </a:p>
                  </a:txBody>
                  <a:tcPr anchor="ctr">
                    <a:solidFill>
                      <a:srgbClr val="FFFFFF"/>
                    </a:solidFill>
                  </a:tcPr>
                </a:tc>
                <a:tc>
                  <a:txBody>
                    <a:bodyPr/>
                    <a:lstStyle/>
                    <a:p>
                      <a:pPr algn="r"/>
                      <a:r>
                        <a:rPr sz="1700" b="0">
                          <a:solidFill>
                            <a:srgbClr val="333333"/>
                          </a:solidFill>
                        </a:rPr>
                        <a:t>0.7 ms</a:t>
                      </a:r>
                    </a:p>
                  </a:txBody>
                  <a:tcPr anchor="ctr">
                    <a:solidFill>
                      <a:srgbClr val="FFFFFF"/>
                    </a:solidFill>
                  </a:tcPr>
                </a:tc>
                <a:tc>
                  <a:txBody>
                    <a:bodyPr/>
                    <a:lstStyle/>
                    <a:p>
                      <a:pPr algn="r"/>
                      <a:r>
                        <a:rPr sz="1700" b="0">
                          <a:solidFill>
                            <a:srgbClr val="333333"/>
                          </a:solidFill>
                        </a:rPr>
                        <a:t>—</a:t>
                      </a:r>
                    </a:p>
                  </a:txBody>
                  <a:tcPr anchor="ctr">
                    <a:solidFill>
                      <a:srgbClr val="FFFFFF"/>
                    </a:solidFill>
                  </a:tcPr>
                </a:tc>
                <a:tc>
                  <a:txBody>
                    <a:bodyPr/>
                    <a:lstStyle/>
                    <a:p>
                      <a:pPr algn="r"/>
                      <a:r>
                        <a:rPr sz="1700" b="0">
                          <a:solidFill>
                            <a:srgbClr val="333333"/>
                          </a:solidFill>
                        </a:rPr>
                        <a:t>10.1 ms</a:t>
                      </a:r>
                    </a:p>
                  </a:txBody>
                  <a:tcPr anchor="ctr">
                    <a:solidFill>
                      <a:srgbClr val="FFFFFF"/>
                    </a:solidFill>
                  </a:tcPr>
                </a:tc>
                <a:tc>
                  <a:txBody>
                    <a:bodyPr/>
                    <a:lstStyle/>
                    <a:p>
                      <a:pPr algn="r"/>
                      <a:r>
                        <a:rPr sz="1700" b="0">
                          <a:solidFill>
                            <a:srgbClr val="333333"/>
                          </a:solidFill>
                        </a:rPr>
                        <a:t>—</a:t>
                      </a:r>
                    </a:p>
                  </a:txBody>
                  <a:tcPr anchor="ctr">
                    <a:solidFill>
                      <a:srgbClr val="FFFFFF"/>
                    </a:solidFill>
                  </a:tcPr>
                </a:tc>
                <a:extLst>
                  <a:ext uri="{0D108BD9-81ED-4DB2-BD59-A6C34878D82A}">
                    <a16:rowId xmlns:a16="http://schemas.microsoft.com/office/drawing/2014/main" val="10001"/>
                  </a:ext>
                </a:extLst>
              </a:tr>
              <a:tr h="457200">
                <a:tc>
                  <a:txBody>
                    <a:bodyPr/>
                    <a:lstStyle/>
                    <a:p>
                      <a:pPr algn="l"/>
                      <a:r>
                        <a:rPr sz="1700" b="0">
                          <a:solidFill>
                            <a:srgbClr val="333333"/>
                          </a:solidFill>
                          <a:latin typeface="Rubik Medium"/>
                        </a:rPr>
                        <a:t>full</a:t>
                      </a:r>
                    </a:p>
                  </a:txBody>
                  <a:tcPr anchor="ctr">
                    <a:solidFill>
                      <a:srgbClr val="FFFFFF"/>
                    </a:solidFill>
                  </a:tcPr>
                </a:tc>
                <a:tc>
                  <a:txBody>
                    <a:bodyPr/>
                    <a:lstStyle/>
                    <a:p>
                      <a:pPr algn="r"/>
                      <a:r>
                        <a:rPr sz="1700" b="0">
                          <a:solidFill>
                            <a:srgbClr val="333333"/>
                          </a:solidFill>
                          <a:latin typeface="Rubik Medium"/>
                        </a:rPr>
                        <a:t>28.1 ms</a:t>
                      </a:r>
                      <a:r>
                        <a:rPr sz="1700" b="0">
                          <a:solidFill>
                            <a:srgbClr val="666666"/>
                          </a:solidFill>
                        </a:rPr>
                        <a:t>  (IQR 1.5 %)</a:t>
                      </a:r>
                    </a:p>
                  </a:txBody>
                  <a:tcPr anchor="ctr">
                    <a:solidFill>
                      <a:srgbClr val="FFFFFF"/>
                    </a:solidFill>
                  </a:tcPr>
                </a:tc>
                <a:tc>
                  <a:txBody>
                    <a:bodyPr/>
                    <a:lstStyle/>
                    <a:p>
                      <a:pPr algn="r"/>
                      <a:r>
                        <a:rPr sz="1700" b="0">
                          <a:solidFill>
                            <a:srgbClr val="333333"/>
                          </a:solidFill>
                        </a:rPr>
                        <a:t>—</a:t>
                      </a:r>
                    </a:p>
                  </a:txBody>
                  <a:tcPr anchor="ctr">
                    <a:solidFill>
                      <a:srgbClr val="FFFFFF"/>
                    </a:solidFill>
                  </a:tcPr>
                </a:tc>
                <a:tc>
                  <a:txBody>
                    <a:bodyPr/>
                    <a:lstStyle/>
                    <a:p>
                      <a:pPr algn="r"/>
                      <a:r>
                        <a:rPr sz="1700" b="0">
                          <a:solidFill>
                            <a:srgbClr val="333333"/>
                          </a:solidFill>
                          <a:latin typeface="Rubik Medium"/>
                        </a:rPr>
                        <a:t>74.1 ms</a:t>
                      </a:r>
                      <a:r>
                        <a:rPr sz="1700" b="0">
                          <a:solidFill>
                            <a:srgbClr val="666666"/>
                          </a:solidFill>
                        </a:rPr>
                        <a:t>  (IQR 4.4 %)</a:t>
                      </a:r>
                    </a:p>
                  </a:txBody>
                  <a:tcPr anchor="ctr">
                    <a:solidFill>
                      <a:srgbClr val="FFFFFF"/>
                    </a:solidFill>
                  </a:tcPr>
                </a:tc>
                <a:tc>
                  <a:txBody>
                    <a:bodyPr/>
                    <a:lstStyle/>
                    <a:p>
                      <a:pPr algn="r"/>
                      <a:r>
                        <a:rPr sz="1700" b="0">
                          <a:solidFill>
                            <a:srgbClr val="333333"/>
                          </a:solidFill>
                        </a:rPr>
                        <a:t>—</a:t>
                      </a:r>
                    </a:p>
                  </a:txBody>
                  <a:tcPr anchor="ctr">
                    <a:solidFill>
                      <a:srgbClr val="FFFFFF"/>
                    </a:solidFill>
                  </a:tcPr>
                </a:tc>
                <a:extLst>
                  <a:ext uri="{0D108BD9-81ED-4DB2-BD59-A6C34878D82A}">
                    <a16:rowId xmlns:a16="http://schemas.microsoft.com/office/drawing/2014/main" val="10002"/>
                  </a:ext>
                </a:extLst>
              </a:tr>
              <a:tr h="457200">
                <a:tc>
                  <a:txBody>
                    <a:bodyPr/>
                    <a:lstStyle/>
                    <a:p>
                      <a:pPr algn="l"/>
                      <a:r>
                        <a:rPr sz="1700" b="0">
                          <a:solidFill>
                            <a:srgbClr val="333333"/>
                          </a:solidFill>
                        </a:rPr>
                        <a:t>nobody</a:t>
                      </a:r>
                    </a:p>
                  </a:txBody>
                  <a:tcPr anchor="ctr">
                    <a:solidFill>
                      <a:srgbClr val="FFFFFF"/>
                    </a:solidFill>
                  </a:tcPr>
                </a:tc>
                <a:tc>
                  <a:txBody>
                    <a:bodyPr/>
                    <a:lstStyle/>
                    <a:p>
                      <a:pPr algn="r"/>
                      <a:r>
                        <a:rPr sz="1700" b="0">
                          <a:solidFill>
                            <a:srgbClr val="333333"/>
                          </a:solidFill>
                        </a:rPr>
                        <a:t>27.4 ms</a:t>
                      </a:r>
                    </a:p>
                  </a:txBody>
                  <a:tcPr anchor="ctr">
                    <a:solidFill>
                      <a:srgbClr val="FFFFFF"/>
                    </a:solidFill>
                  </a:tcPr>
                </a:tc>
                <a:tc>
                  <a:txBody>
                    <a:bodyPr/>
                    <a:lstStyle/>
                    <a:p>
                      <a:pPr algn="r"/>
                      <a:r>
                        <a:rPr sz="1700" b="0">
                          <a:solidFill>
                            <a:srgbClr val="333333"/>
                          </a:solidFill>
                        </a:rPr>
                        <a:t>−0.8 (noise)</a:t>
                      </a:r>
                    </a:p>
                  </a:txBody>
                  <a:tcPr anchor="ctr">
                    <a:solidFill>
                      <a:srgbClr val="FFFFFF"/>
                    </a:solidFill>
                  </a:tcPr>
                </a:tc>
                <a:tc>
                  <a:txBody>
                    <a:bodyPr/>
                    <a:lstStyle/>
                    <a:p>
                      <a:pPr algn="r"/>
                      <a:r>
                        <a:rPr sz="1700" b="0">
                          <a:solidFill>
                            <a:srgbClr val="333333"/>
                          </a:solidFill>
                        </a:rPr>
                        <a:t>39.5 ms</a:t>
                      </a:r>
                    </a:p>
                  </a:txBody>
                  <a:tcPr anchor="ctr">
                    <a:solidFill>
                      <a:srgbClr val="FFFFFF"/>
                    </a:solidFill>
                  </a:tcPr>
                </a:tc>
                <a:tc>
                  <a:txBody>
                    <a:bodyPr/>
                    <a:lstStyle/>
                    <a:p>
                      <a:pPr algn="r"/>
                      <a:r>
                        <a:rPr sz="1700" b="0">
                          <a:solidFill>
                            <a:srgbClr val="333333"/>
                          </a:solidFill>
                        </a:rPr>
                        <a:t>−34.6 (−47 %)</a:t>
                      </a:r>
                    </a:p>
                  </a:txBody>
                  <a:tcPr anchor="ctr">
                    <a:solidFill>
                      <a:srgbClr val="FFFFFF"/>
                    </a:solidFill>
                  </a:tcPr>
                </a:tc>
                <a:extLst>
                  <a:ext uri="{0D108BD9-81ED-4DB2-BD59-A6C34878D82A}">
                    <a16:rowId xmlns:a16="http://schemas.microsoft.com/office/drawing/2014/main" val="10003"/>
                  </a:ext>
                </a:extLst>
              </a:tr>
              <a:tr h="457200">
                <a:tc>
                  <a:txBody>
                    <a:bodyPr/>
                    <a:lstStyle/>
                    <a:p>
                      <a:pPr algn="l"/>
                      <a:r>
                        <a:rPr sz="1700" b="0">
                          <a:solidFill>
                            <a:srgbClr val="333333"/>
                          </a:solidFill>
                        </a:rPr>
                        <a:t>reuse</a:t>
                      </a:r>
                    </a:p>
                  </a:txBody>
                  <a:tcPr anchor="ctr">
                    <a:solidFill>
                      <a:srgbClr val="FFFFFF"/>
                    </a:solidFill>
                  </a:tcPr>
                </a:tc>
                <a:tc>
                  <a:txBody>
                    <a:bodyPr/>
                    <a:lstStyle/>
                    <a:p>
                      <a:pPr algn="r"/>
                      <a:r>
                        <a:rPr sz="1700" b="0">
                          <a:solidFill>
                            <a:srgbClr val="333333"/>
                          </a:solidFill>
                        </a:rPr>
                        <a:t>26.1 ms</a:t>
                      </a:r>
                    </a:p>
                  </a:txBody>
                  <a:tcPr anchor="ctr">
                    <a:solidFill>
                      <a:srgbClr val="FFFFFF"/>
                    </a:solidFill>
                  </a:tcPr>
                </a:tc>
                <a:tc>
                  <a:txBody>
                    <a:bodyPr/>
                    <a:lstStyle/>
                    <a:p>
                      <a:pPr algn="r"/>
                      <a:r>
                        <a:rPr sz="1700" b="0">
                          <a:solidFill>
                            <a:srgbClr val="333333"/>
                          </a:solidFill>
                        </a:rPr>
                        <a:t>−2.0</a:t>
                      </a:r>
                    </a:p>
                  </a:txBody>
                  <a:tcPr anchor="ctr">
                    <a:solidFill>
                      <a:srgbClr val="FFFFFF"/>
                    </a:solidFill>
                  </a:tcPr>
                </a:tc>
                <a:tc>
                  <a:txBody>
                    <a:bodyPr/>
                    <a:lstStyle/>
                    <a:p>
                      <a:pPr algn="r"/>
                      <a:r>
                        <a:rPr sz="1700" b="0">
                          <a:solidFill>
                            <a:srgbClr val="333333"/>
                          </a:solidFill>
                        </a:rPr>
                        <a:t>69.6 ms</a:t>
                      </a:r>
                    </a:p>
                  </a:txBody>
                  <a:tcPr anchor="ctr">
                    <a:solidFill>
                      <a:srgbClr val="FFFFFF"/>
                    </a:solidFill>
                  </a:tcPr>
                </a:tc>
                <a:tc>
                  <a:txBody>
                    <a:bodyPr/>
                    <a:lstStyle/>
                    <a:p>
                      <a:pPr algn="r"/>
                      <a:r>
                        <a:rPr sz="1700" b="0">
                          <a:solidFill>
                            <a:srgbClr val="333333"/>
                          </a:solidFill>
                        </a:rPr>
                        <a:t>−4.5</a:t>
                      </a:r>
                    </a:p>
                  </a:txBody>
                  <a:tcPr anchor="ctr">
                    <a:solidFill>
                      <a:srgbClr val="FFFFFF"/>
                    </a:solidFill>
                  </a:tcPr>
                </a:tc>
                <a:extLst>
                  <a:ext uri="{0D108BD9-81ED-4DB2-BD59-A6C34878D82A}">
                    <a16:rowId xmlns:a16="http://schemas.microsoft.com/office/drawing/2014/main" val="10004"/>
                  </a:ext>
                </a:extLst>
              </a:tr>
              <a:tr h="457200">
                <a:tc>
                  <a:txBody>
                    <a:bodyPr/>
                    <a:lstStyle/>
                    <a:p>
                      <a:pPr algn="l"/>
                      <a:r>
                        <a:rPr sz="1700" b="0">
                          <a:solidFill>
                            <a:srgbClr val="333333"/>
                          </a:solidFill>
                        </a:rPr>
                        <a:t>synctsa</a:t>
                      </a:r>
                    </a:p>
                  </a:txBody>
                  <a:tcPr anchor="ctr">
                    <a:solidFill>
                      <a:srgbClr val="FFFFFF"/>
                    </a:solidFill>
                  </a:tcPr>
                </a:tc>
                <a:tc>
                  <a:txBody>
                    <a:bodyPr/>
                    <a:lstStyle/>
                    <a:p>
                      <a:pPr algn="r"/>
                      <a:r>
                        <a:rPr sz="1700" b="0">
                          <a:solidFill>
                            <a:srgbClr val="333333"/>
                          </a:solidFill>
                        </a:rPr>
                        <a:t>117.0 ms</a:t>
                      </a:r>
                    </a:p>
                  </a:txBody>
                  <a:tcPr anchor="ctr">
                    <a:solidFill>
                      <a:srgbClr val="FFFFFF"/>
                    </a:solidFill>
                  </a:tcPr>
                </a:tc>
                <a:tc>
                  <a:txBody>
                    <a:bodyPr/>
                    <a:lstStyle/>
                    <a:p>
                      <a:pPr algn="r"/>
                      <a:r>
                        <a:rPr sz="1700" b="0">
                          <a:solidFill>
                            <a:srgbClr val="333333"/>
                          </a:solidFill>
                        </a:rPr>
                        <a:t>+88.9</a:t>
                      </a:r>
                    </a:p>
                  </a:txBody>
                  <a:tcPr anchor="ctr">
                    <a:solidFill>
                      <a:srgbClr val="FFFFFF"/>
                    </a:solidFill>
                  </a:tcPr>
                </a:tc>
                <a:tc>
                  <a:txBody>
                    <a:bodyPr/>
                    <a:lstStyle/>
                    <a:p>
                      <a:pPr algn="r"/>
                      <a:r>
                        <a:rPr sz="1700" b="0">
                          <a:solidFill>
                            <a:srgbClr val="333333"/>
                          </a:solidFill>
                        </a:rPr>
                        <a:t>165.8 ms</a:t>
                      </a:r>
                    </a:p>
                  </a:txBody>
                  <a:tcPr anchor="ctr">
                    <a:solidFill>
                      <a:srgbClr val="FFFFFF"/>
                    </a:solidFill>
                  </a:tcPr>
                </a:tc>
                <a:tc>
                  <a:txBody>
                    <a:bodyPr/>
                    <a:lstStyle/>
                    <a:p>
                      <a:pPr algn="r"/>
                      <a:r>
                        <a:rPr sz="1700" b="0">
                          <a:solidFill>
                            <a:srgbClr val="333333"/>
                          </a:solidFill>
                        </a:rPr>
                        <a:t>+91.7</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1280160" y="4526280"/>
            <a:ext cx="9875520" cy="1737360"/>
          </a:xfrm>
          <a:prstGeom prst="rect">
            <a:avLst/>
          </a:prstGeom>
          <a:noFill/>
        </p:spPr>
        <p:txBody>
          <a:bodyPr wrap="square" lIns="45720" rIns="45720" anchor="t">
            <a:spAutoFit/>
          </a:bodyPr>
          <a:lstStyle/>
          <a:p>
            <a:pPr algn="l">
              <a:spcAft>
                <a:spcPts val="800"/>
              </a:spcAft>
            </a:pPr>
            <a:r>
              <a:rPr sz="1600" b="0" i="0">
                <a:solidFill>
                  <a:srgbClr val="1B365D"/>
                </a:solidFill>
                <a:latin typeface="Rubik Medium"/>
              </a:rPr>
              <a:t>Same grid on one host (same CPU): </a:t>
            </a:r>
            <a:r>
              <a:rPr sz="1600" b="0" i="0">
                <a:solidFill>
                  <a:srgbClr val="333333"/>
                </a:solidFill>
              </a:rPr>
              <a:t>29.8 ms at 10 KB, 74.7 ms at 1 MB; per-mechanism differences agree within 1–3 ms.</a:t>
            </a:r>
          </a:p>
          <a:p>
            <a:pPr algn="l">
              <a:spcAft>
                <a:spcPts val="800"/>
              </a:spcAft>
            </a:pPr>
            <a:r>
              <a:rPr sz="1600" b="0" i="0">
                <a:solidFill>
                  <a:srgbClr val="666666"/>
                </a:solidFill>
              </a:rPr>
              <a:t>Medians of 15 runs per point (3 grids × 5 repetitions). Successful requests: 15 000 of 15 000 at 10 KB, 3 000 of 3 000 at 1 MB. Control run over the night: 27.5–29.0 ms, IQR 1.4 %.</a:t>
            </a:r>
          </a:p>
          <a:p>
            <a:pPr algn="l">
              <a:spcAft>
                <a:spcPts val="600"/>
              </a:spcAft>
            </a:pPr>
            <a:r>
              <a:rPr sz="1300" b="0" i="1">
                <a:solidFill>
                  <a:srgbClr val="666666"/>
                </a:solidFill>
                <a:latin typeface="Rubik Medium"/>
              </a:rPr>
              <a:t>Preliminary. Three machines, </a:t>
            </a:r>
            <a:r>
              <a:rPr sz="1300" b="0" i="1">
                <a:solidFill>
                  <a:srgbClr val="666666"/>
                </a:solidFill>
              </a:rPr>
              <a:t>3 × i5-8250U, CPU performance mode, local test CA and TSA · night of 5–6 October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Connection setup vs per-message work</a:t>
            </a:r>
          </a:p>
        </p:txBody>
      </p:sp>
      <p:sp>
        <p:nvSpPr>
          <p:cNvPr id="3" name="Rounded Rectangle 2"/>
          <p:cNvSpPr/>
          <p:nvPr/>
        </p:nvSpPr>
        <p:spPr>
          <a:xfrm>
            <a:off x="1280160" y="1645920"/>
            <a:ext cx="3108960" cy="2514600"/>
          </a:xfrm>
          <a:prstGeom prst="roundRect">
            <a:avLst>
              <a:gd name="adj" fmla="val 6000"/>
            </a:avLst>
          </a:prstGeom>
          <a:solidFill>
            <a:srgbClr val="FD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508760" y="1783080"/>
            <a:ext cx="2651760" cy="2286000"/>
          </a:xfrm>
          <a:prstGeom prst="rect">
            <a:avLst/>
          </a:prstGeom>
          <a:noFill/>
        </p:spPr>
        <p:txBody>
          <a:bodyPr wrap="square" lIns="45720" rIns="45720" anchor="t">
            <a:spAutoFit/>
          </a:bodyPr>
          <a:lstStyle/>
          <a:p>
            <a:pPr algn="l">
              <a:spcAft>
                <a:spcPts val="1000"/>
              </a:spcAft>
            </a:pPr>
            <a:r>
              <a:rPr sz="4800" b="0" i="0">
                <a:solidFill>
                  <a:srgbClr val="333333"/>
                </a:solidFill>
                <a:latin typeface="Rubik Medium"/>
              </a:rPr>
              <a:t>≈ 2 ms</a:t>
            </a:r>
          </a:p>
          <a:p>
            <a:pPr algn="l">
              <a:spcAft>
                <a:spcPts val="600"/>
              </a:spcAft>
            </a:pPr>
            <a:r>
              <a:rPr sz="1700" b="0" i="0">
                <a:solidFill>
                  <a:srgbClr val="666666"/>
                </a:solidFill>
              </a:rPr>
              <a:t>mTLS handshake per message (full − reuse, 10 KB, 1 client)</a:t>
            </a:r>
          </a:p>
        </p:txBody>
      </p:sp>
      <p:sp>
        <p:nvSpPr>
          <p:cNvPr id="5" name="Rounded Rectangle 4"/>
          <p:cNvSpPr/>
          <p:nvPr/>
        </p:nvSpPr>
        <p:spPr>
          <a:xfrm>
            <a:off x="4663440" y="1645920"/>
            <a:ext cx="3108960" cy="2514600"/>
          </a:xfrm>
          <a:prstGeom prst="roundRect">
            <a:avLst>
              <a:gd name="adj" fmla="val 6000"/>
            </a:avLst>
          </a:prstGeom>
          <a:solidFill>
            <a:srgbClr val="FD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892040" y="1783080"/>
            <a:ext cx="2651760" cy="2286000"/>
          </a:xfrm>
          <a:prstGeom prst="rect">
            <a:avLst/>
          </a:prstGeom>
          <a:noFill/>
        </p:spPr>
        <p:txBody>
          <a:bodyPr wrap="square" lIns="45720" rIns="45720" anchor="t">
            <a:spAutoFit/>
          </a:bodyPr>
          <a:lstStyle/>
          <a:p>
            <a:pPr algn="l">
              <a:spcAft>
                <a:spcPts val="1000"/>
              </a:spcAft>
            </a:pPr>
            <a:r>
              <a:rPr sz="4800" b="0" i="0">
                <a:solidFill>
                  <a:srgbClr val="333333"/>
                </a:solidFill>
                <a:latin typeface="Rubik Medium"/>
              </a:rPr>
              <a:t>3.3 KB</a:t>
            </a:r>
          </a:p>
          <a:p>
            <a:pPr algn="l">
              <a:spcAft>
                <a:spcPts val="600"/>
              </a:spcAft>
            </a:pPr>
            <a:r>
              <a:rPr sz="1700" b="0" i="0">
                <a:solidFill>
                  <a:srgbClr val="666666"/>
                </a:solidFill>
              </a:rPr>
              <a:t>fewer bytes ss1 → ss2 per message with reuse (14.8 → 11.5 KB)</a:t>
            </a:r>
          </a:p>
        </p:txBody>
      </p:sp>
      <p:sp>
        <p:nvSpPr>
          <p:cNvPr id="7" name="Rounded Rectangle 6"/>
          <p:cNvSpPr/>
          <p:nvPr/>
        </p:nvSpPr>
        <p:spPr>
          <a:xfrm>
            <a:off x="8046720" y="1645920"/>
            <a:ext cx="3108960" cy="2514600"/>
          </a:xfrm>
          <a:prstGeom prst="roundRect">
            <a:avLst>
              <a:gd name="adj" fmla="val 6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75320" y="1783080"/>
            <a:ext cx="2651760" cy="2286000"/>
          </a:xfrm>
          <a:prstGeom prst="rect">
            <a:avLst/>
          </a:prstGeom>
          <a:noFill/>
        </p:spPr>
        <p:txBody>
          <a:bodyPr wrap="square" lIns="45720" rIns="45720" anchor="t">
            <a:spAutoFit/>
          </a:bodyPr>
          <a:lstStyle/>
          <a:p>
            <a:pPr algn="l">
              <a:spcAft>
                <a:spcPts val="1000"/>
              </a:spcAft>
            </a:pPr>
            <a:r>
              <a:rPr sz="4800" b="0" i="0">
                <a:solidFill>
                  <a:srgbClr val="333333"/>
                </a:solidFill>
                <a:latin typeface="Rubik Medium"/>
              </a:rPr>
              <a:t>≈ 26 ms</a:t>
            </a:r>
          </a:p>
          <a:p>
            <a:pPr algn="l">
              <a:spcAft>
                <a:spcPts val="600"/>
              </a:spcAft>
            </a:pPr>
            <a:r>
              <a:rPr sz="1700" b="0" i="0">
                <a:solidFill>
                  <a:srgbClr val="666666"/>
                </a:solidFill>
              </a:rPr>
              <a:t>remaining per-message work: signing, verification, logging</a:t>
            </a:r>
          </a:p>
        </p:txBody>
      </p:sp>
      <p:sp>
        <p:nvSpPr>
          <p:cNvPr id="9" name="TextBox 8"/>
          <p:cNvSpPr txBox="1"/>
          <p:nvPr/>
        </p:nvSpPr>
        <p:spPr>
          <a:xfrm>
            <a:off x="1280160" y="4526280"/>
            <a:ext cx="9875520" cy="1280160"/>
          </a:xfrm>
          <a:prstGeom prst="rect">
            <a:avLst/>
          </a:prstGeom>
          <a:noFill/>
        </p:spPr>
        <p:txBody>
          <a:bodyPr wrap="square" lIns="45720" rIns="45720" anchor="t">
            <a:spAutoFit/>
          </a:bodyPr>
          <a:lstStyle/>
          <a:p>
            <a:pPr algn="l">
              <a:spcAft>
                <a:spcPts val="600"/>
              </a:spcAft>
            </a:pPr>
            <a:r>
              <a:rPr sz="2000" b="0" i="0">
                <a:solidFill>
                  <a:srgbClr val="333333"/>
                </a:solidFill>
              </a:rPr>
              <a:t>By default X-Road opens a new TLS connection for every message. Reusing connections removes the handshake but leaves most of the cost, which is message-level.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Limitations found so far</a:t>
            </a:r>
          </a:p>
        </p:txBody>
      </p:sp>
      <p:sp>
        <p:nvSpPr>
          <p:cNvPr id="3" name="Rounded Rectangle 2"/>
          <p:cNvSpPr/>
          <p:nvPr/>
        </p:nvSpPr>
        <p:spPr>
          <a:xfrm>
            <a:off x="1280160" y="1600200"/>
            <a:ext cx="4800600" cy="1965960"/>
          </a:xfrm>
          <a:prstGeom prst="roundRect">
            <a:avLst>
              <a:gd name="adj" fmla="val 6000"/>
            </a:avLst>
          </a:prstGeom>
          <a:solidFill>
            <a:srgbClr val="FD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481328" y="1764792"/>
            <a:ext cx="4398264" cy="1691639"/>
          </a:xfrm>
          <a:prstGeom prst="rect">
            <a:avLst/>
          </a:prstGeom>
          <a:noFill/>
        </p:spPr>
        <p:txBody>
          <a:bodyPr wrap="square" lIns="45720" rIns="45720" anchor="t">
            <a:spAutoFit/>
          </a:bodyPr>
          <a:lstStyle/>
          <a:p>
            <a:pPr algn="l">
              <a:spcAft>
                <a:spcPts val="800"/>
              </a:spcAft>
            </a:pPr>
            <a:r>
              <a:rPr sz="1900" b="0" i="0">
                <a:solidFill>
                  <a:srgbClr val="333333"/>
                </a:solidFill>
                <a:latin typeface="Rubik Medium"/>
              </a:rPr>
              <a:t>CPU power mode</a:t>
            </a:r>
          </a:p>
          <a:p>
            <a:pPr algn="l">
              <a:spcAft>
                <a:spcPts val="500"/>
              </a:spcAft>
            </a:pPr>
            <a:r>
              <a:rPr sz="1600" b="0" i="0">
                <a:solidFill>
                  <a:srgbClr val="666666"/>
                </a:solidFill>
              </a:rPr>
              <a:t>Same control run: 79.7 ms in balanced vs 28.7 ms in performance. Earlier runs are not comparable in absolute terms; the mode is now fixed and recorded.</a:t>
            </a:r>
          </a:p>
        </p:txBody>
      </p:sp>
      <p:sp>
        <p:nvSpPr>
          <p:cNvPr id="5" name="Rounded Rectangle 4"/>
          <p:cNvSpPr/>
          <p:nvPr/>
        </p:nvSpPr>
        <p:spPr>
          <a:xfrm>
            <a:off x="6355079" y="1600200"/>
            <a:ext cx="4800600" cy="1965960"/>
          </a:xfrm>
          <a:prstGeom prst="roundRect">
            <a:avLst>
              <a:gd name="adj" fmla="val 6000"/>
            </a:avLst>
          </a:prstGeom>
          <a:solidFill>
            <a:srgbClr val="FDE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556247" y="1764792"/>
            <a:ext cx="4398264" cy="1691639"/>
          </a:xfrm>
          <a:prstGeom prst="rect">
            <a:avLst/>
          </a:prstGeom>
          <a:noFill/>
        </p:spPr>
        <p:txBody>
          <a:bodyPr wrap="square" lIns="45720" rIns="45720" anchor="t">
            <a:spAutoFit/>
          </a:bodyPr>
          <a:lstStyle/>
          <a:p>
            <a:pPr algn="l">
              <a:spcAft>
                <a:spcPts val="800"/>
              </a:spcAft>
            </a:pPr>
            <a:r>
              <a:rPr sz="1900" b="0" i="0">
                <a:solidFill>
                  <a:srgbClr val="333333"/>
                </a:solidFill>
                <a:latin typeface="Rubik Medium"/>
              </a:rPr>
              <a:t>Concurrency</a:t>
            </a:r>
          </a:p>
          <a:p>
            <a:pPr algn="l">
              <a:spcAft>
                <a:spcPts val="500"/>
              </a:spcAft>
            </a:pPr>
            <a:r>
              <a:rPr sz="1600" b="0" i="0">
                <a:solidFill>
                  <a:srgbClr val="666666"/>
                </a:solidFill>
              </a:rPr>
              <a:t>At 4 to 32 clients the spread between runs is large (IQR 25–60 %), so differences between full, nobody and reuse are not resolved there.</a:t>
            </a:r>
          </a:p>
        </p:txBody>
      </p:sp>
      <p:sp>
        <p:nvSpPr>
          <p:cNvPr id="7" name="Rounded Rectangle 6"/>
          <p:cNvSpPr/>
          <p:nvPr/>
        </p:nvSpPr>
        <p:spPr>
          <a:xfrm>
            <a:off x="1280160" y="3840479"/>
            <a:ext cx="4800600" cy="1965960"/>
          </a:xfrm>
          <a:prstGeom prst="roundRect">
            <a:avLst>
              <a:gd name="adj" fmla="val 6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81328" y="4005071"/>
            <a:ext cx="4398264" cy="1691639"/>
          </a:xfrm>
          <a:prstGeom prst="rect">
            <a:avLst/>
          </a:prstGeom>
          <a:noFill/>
        </p:spPr>
        <p:txBody>
          <a:bodyPr wrap="square" lIns="45720" rIns="45720" anchor="t">
            <a:spAutoFit/>
          </a:bodyPr>
          <a:lstStyle/>
          <a:p>
            <a:pPr algn="l">
              <a:spcAft>
                <a:spcPts val="800"/>
              </a:spcAft>
            </a:pPr>
            <a:r>
              <a:rPr sz="1900" b="0" i="0">
                <a:solidFill>
                  <a:srgbClr val="333333"/>
                </a:solidFill>
                <a:latin typeface="Rubik Medium"/>
              </a:rPr>
              <a:t>Optimistic PKI</a:t>
            </a:r>
          </a:p>
          <a:p>
            <a:pPr algn="l">
              <a:spcAft>
                <a:spcPts val="500"/>
              </a:spcAft>
            </a:pPr>
            <a:r>
              <a:rPr sz="1600" b="0" i="0">
                <a:solidFill>
                  <a:srgbClr val="666666"/>
                </a:solidFill>
              </a:rPr>
              <a:t>Local test CA and TSA on the same network; production intervals and services may differ.</a:t>
            </a:r>
          </a:p>
        </p:txBody>
      </p:sp>
      <p:sp>
        <p:nvSpPr>
          <p:cNvPr id="9" name="Rounded Rectangle 8"/>
          <p:cNvSpPr/>
          <p:nvPr/>
        </p:nvSpPr>
        <p:spPr>
          <a:xfrm>
            <a:off x="6355079" y="3840479"/>
            <a:ext cx="4800600" cy="1965960"/>
          </a:xfrm>
          <a:prstGeom prst="roundRect">
            <a:avLst>
              <a:gd name="adj" fmla="val 6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556247" y="4005071"/>
            <a:ext cx="4398264" cy="1691639"/>
          </a:xfrm>
          <a:prstGeom prst="rect">
            <a:avLst/>
          </a:prstGeom>
          <a:noFill/>
        </p:spPr>
        <p:txBody>
          <a:bodyPr wrap="square" lIns="45720" rIns="45720" anchor="t">
            <a:spAutoFit/>
          </a:bodyPr>
          <a:lstStyle/>
          <a:p>
            <a:pPr algn="l">
              <a:spcAft>
                <a:spcPts val="800"/>
              </a:spcAft>
            </a:pPr>
            <a:r>
              <a:rPr sz="1900" b="0" i="0">
                <a:solidFill>
                  <a:srgbClr val="333333"/>
                </a:solidFill>
                <a:latin typeface="Rubik Medium"/>
              </a:rPr>
              <a:t>Hardware and scope</a:t>
            </a:r>
          </a:p>
          <a:p>
            <a:pPr algn="l">
              <a:spcAft>
                <a:spcPts val="500"/>
              </a:spcAft>
            </a:pPr>
            <a:r>
              <a:rPr sz="1600" b="0" i="0">
                <a:solidFill>
                  <a:srgbClr val="666666"/>
                </a:solidFill>
              </a:rPr>
              <a:t>Three 2017 laptop CPUs, one local network, no wide-area link. Comparisons are within one environment.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0160" y="658368"/>
            <a:ext cx="9875520" cy="777240"/>
          </a:xfrm>
        </p:spPr>
        <p:txBody>
          <a:bodyPr anchor="ctr"/>
          <a:lstStyle/>
          <a:p>
            <a:pPr algn="l"/>
            <a:r>
              <a:rPr sz="3400" b="0">
                <a:solidFill>
                  <a:srgbClr val="1B365D"/>
                </a:solidFill>
              </a:rPr>
              <a:t>Status and next steps</a:t>
            </a:r>
          </a:p>
        </p:txBody>
      </p:sp>
      <p:sp>
        <p:nvSpPr>
          <p:cNvPr id="3" name="Rounded Rectangle 2"/>
          <p:cNvSpPr/>
          <p:nvPr/>
        </p:nvSpPr>
        <p:spPr>
          <a:xfrm>
            <a:off x="1280160" y="1600200"/>
            <a:ext cx="3108960" cy="34290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481328" y="1764792"/>
            <a:ext cx="2706624" cy="3154680"/>
          </a:xfrm>
          <a:prstGeom prst="rect">
            <a:avLst/>
          </a:prstGeom>
          <a:noFill/>
        </p:spPr>
        <p:txBody>
          <a:bodyPr wrap="square" lIns="45720" rIns="45720" anchor="t">
            <a:spAutoFit/>
          </a:bodyPr>
          <a:lstStyle/>
          <a:p>
            <a:pPr algn="l">
              <a:spcAft>
                <a:spcPts val="800"/>
              </a:spcAft>
            </a:pPr>
            <a:r>
              <a:rPr sz="2100" b="0" i="0">
                <a:solidFill>
                  <a:srgbClr val="2C5697"/>
                </a:solidFill>
                <a:latin typeface="Rubik Medium"/>
              </a:rPr>
              <a:t>Done</a:t>
            </a:r>
          </a:p>
          <a:p>
            <a:pPr marL="219456" indent="-219456" algn="l">
              <a:spcAft>
                <a:spcPts val="500"/>
              </a:spcAft>
              <a:buChar char="•"/>
            </a:pPr>
            <a:r>
              <a:rPr sz="1600" b="0" i="0">
                <a:solidFill>
                  <a:srgbClr val="666666"/>
                </a:solidFill>
              </a:rPr>
              <a:t>Testbed scripted: one host or three machines</a:t>
            </a:r>
          </a:p>
          <a:p>
            <a:pPr marL="219456" indent="-219456" algn="l">
              <a:spcAft>
                <a:spcPts val="500"/>
              </a:spcAft>
              <a:buChar char="•"/>
            </a:pPr>
            <a:r>
              <a:rPr sz="1600" b="0" i="0">
                <a:solidFill>
                  <a:srgbClr val="666666"/>
                </a:solidFill>
              </a:rPr>
              <a:t>Clean grids on three machines in performance mode</a:t>
            </a:r>
          </a:p>
          <a:p>
            <a:pPr marL="219456" indent="-219456" algn="l">
              <a:spcAft>
                <a:spcPts val="500"/>
              </a:spcAft>
              <a:buChar char="•"/>
            </a:pPr>
            <a:r>
              <a:rPr sz="1600" b="0" i="0">
                <a:solidFill>
                  <a:srgbClr val="666666"/>
                </a:solidFill>
              </a:rPr>
              <a:t>TLS setup separated from per-message work</a:t>
            </a:r>
          </a:p>
          <a:p>
            <a:pPr marL="219456" indent="-219456" algn="l">
              <a:spcAft>
                <a:spcPts val="500"/>
              </a:spcAft>
              <a:buChar char="•"/>
            </a:pPr>
            <a:r>
              <a:rPr sz="1600" b="0" i="0">
                <a:solidFill>
                  <a:srgbClr val="666666"/>
                </a:solidFill>
              </a:rPr>
              <a:t>One host vs three machines (RQ3)</a:t>
            </a:r>
          </a:p>
        </p:txBody>
      </p:sp>
      <p:sp>
        <p:nvSpPr>
          <p:cNvPr id="5" name="Rounded Rectangle 4"/>
          <p:cNvSpPr/>
          <p:nvPr/>
        </p:nvSpPr>
        <p:spPr>
          <a:xfrm>
            <a:off x="4663440" y="1600200"/>
            <a:ext cx="3108960" cy="34290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4864607" y="1764792"/>
            <a:ext cx="2706624" cy="3154680"/>
          </a:xfrm>
          <a:prstGeom prst="rect">
            <a:avLst/>
          </a:prstGeom>
          <a:noFill/>
        </p:spPr>
        <p:txBody>
          <a:bodyPr wrap="square" lIns="45720" rIns="45720" anchor="t">
            <a:spAutoFit/>
          </a:bodyPr>
          <a:lstStyle/>
          <a:p>
            <a:pPr algn="l">
              <a:spcAft>
                <a:spcPts val="800"/>
              </a:spcAft>
            </a:pPr>
            <a:r>
              <a:rPr sz="2100" b="0" i="0">
                <a:solidFill>
                  <a:srgbClr val="FF5725"/>
                </a:solidFill>
                <a:latin typeface="Rubik Medium"/>
              </a:rPr>
              <a:t>In progress</a:t>
            </a:r>
          </a:p>
          <a:p>
            <a:pPr marL="219456" indent="-219456" algn="l">
              <a:spcAft>
                <a:spcPts val="500"/>
              </a:spcAft>
              <a:buChar char="•"/>
            </a:pPr>
            <a:r>
              <a:rPr sz="1600" b="0" i="0">
                <a:solidFill>
                  <a:srgbClr val="666666"/>
                </a:solidFill>
              </a:rPr>
              <a:t>Same grid on the development laptop</a:t>
            </a:r>
          </a:p>
          <a:p>
            <a:pPr marL="219456" indent="-219456" algn="l">
              <a:spcAft>
                <a:spcPts val="500"/>
              </a:spcAft>
              <a:buChar char="•"/>
            </a:pPr>
            <a:r>
              <a:rPr sz="1600" b="0" i="0">
                <a:solidFill>
                  <a:srgbClr val="666666"/>
                </a:solidFill>
              </a:rPr>
              <a:t>Per-stage breakdown from operational monitoring</a:t>
            </a:r>
          </a:p>
        </p:txBody>
      </p:sp>
      <p:sp>
        <p:nvSpPr>
          <p:cNvPr id="7" name="Rounded Rectangle 6"/>
          <p:cNvSpPr/>
          <p:nvPr/>
        </p:nvSpPr>
        <p:spPr>
          <a:xfrm>
            <a:off x="8046720" y="1600200"/>
            <a:ext cx="3108960" cy="3429000"/>
          </a:xfrm>
          <a:prstGeom prst="roundRect">
            <a:avLst>
              <a:gd name="adj" fmla="val 6000"/>
            </a:avLst>
          </a:prstGeom>
          <a:solidFill>
            <a:srgbClr val="FFFFFF"/>
          </a:solidFill>
          <a:ln w="12700">
            <a:solidFill>
              <a:srgbClr val="D5D9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247888" y="1764792"/>
            <a:ext cx="2706624" cy="3154680"/>
          </a:xfrm>
          <a:prstGeom prst="rect">
            <a:avLst/>
          </a:prstGeom>
          <a:noFill/>
        </p:spPr>
        <p:txBody>
          <a:bodyPr wrap="square" lIns="45720" rIns="45720" anchor="t">
            <a:spAutoFit/>
          </a:bodyPr>
          <a:lstStyle/>
          <a:p>
            <a:pPr algn="l">
              <a:spcAft>
                <a:spcPts val="800"/>
              </a:spcAft>
            </a:pPr>
            <a:r>
              <a:rPr sz="2100" b="0" i="0">
                <a:solidFill>
                  <a:srgbClr val="1B365D"/>
                </a:solidFill>
                <a:latin typeface="Rubik Medium"/>
              </a:rPr>
              <a:t>Next</a:t>
            </a:r>
          </a:p>
          <a:p>
            <a:pPr marL="219456" indent="-219456" algn="l">
              <a:spcAft>
                <a:spcPts val="500"/>
              </a:spcAft>
              <a:buChar char="•"/>
            </a:pPr>
            <a:r>
              <a:rPr sz="1600" b="0" i="0">
                <a:solidFill>
                  <a:srgbClr val="666666"/>
                </a:solidFill>
              </a:rPr>
              <a:t>Concurrency: throughput ceilings only</a:t>
            </a:r>
          </a:p>
          <a:p>
            <a:pPr marL="219456" indent="-219456" algn="l">
              <a:spcAft>
                <a:spcPts val="500"/>
              </a:spcAft>
              <a:buChar char="•"/>
            </a:pPr>
            <a:r>
              <a:rPr sz="1600" b="0" i="0">
                <a:solidFill>
                  <a:srgbClr val="666666"/>
                </a:solidFill>
              </a:rPr>
              <a:t>Report revision with final tables</a:t>
            </a:r>
          </a:p>
          <a:p>
            <a:pPr marL="219456" indent="-219456" algn="l">
              <a:spcAft>
                <a:spcPts val="500"/>
              </a:spcAft>
              <a:buChar char="•"/>
            </a:pPr>
            <a:r>
              <a:rPr sz="1600" b="0" i="0">
                <a:solidFill>
                  <a:srgbClr val="666666"/>
                </a:solidFill>
              </a:rPr>
              <a:t>To discuss: plain mTLS baseline? HPC VMs?</a:t>
            </a:r>
          </a:p>
        </p:txBody>
      </p:sp>
      <p:sp>
        <p:nvSpPr>
          <p:cNvPr id="9" name="TextBox 8"/>
          <p:cNvSpPr txBox="1"/>
          <p:nvPr/>
        </p:nvSpPr>
        <p:spPr>
          <a:xfrm>
            <a:off x="1280160" y="5349240"/>
            <a:ext cx="9875520" cy="548640"/>
          </a:xfrm>
          <a:prstGeom prst="rect">
            <a:avLst/>
          </a:prstGeom>
          <a:noFill/>
        </p:spPr>
        <p:txBody>
          <a:bodyPr wrap="square" lIns="45720" rIns="45720" anchor="t">
            <a:spAutoFit/>
          </a:bodyPr>
          <a:lstStyle/>
          <a:p>
            <a:pPr algn="l">
              <a:spcAft>
                <a:spcPts val="600"/>
              </a:spcAft>
            </a:pPr>
            <a:r>
              <a:rPr sz="2200" b="0" i="0">
                <a:solidFill>
                  <a:srgbClr val="333333"/>
                </a:solidFill>
                <a:latin typeface="Rubik Medium"/>
              </a:rPr>
              <a:t>Questions and suggestions welcome.</a:t>
            </a:r>
          </a:p>
        </p:txBody>
      </p:sp>
    </p:spTree>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Rubik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ubik"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Презентация1" id="{F576701D-823A-4B7C-9DBB-1A581EA585C8}" vid="{1527F860-5020-4FF5-B725-5CC551FC35D3}"/>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Rubik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Rubik Medium"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ubik"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Tartu_template</Template>
  <TotalTime>0</TotalTime>
  <Words>2191</Words>
  <Application>Microsoft Office PowerPoint</Application>
  <PresentationFormat>Широкоэкранный</PresentationFormat>
  <Paragraphs>204</Paragraphs>
  <Slides>13</Slides>
  <Notes>13</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13</vt:i4>
      </vt:variant>
    </vt:vector>
  </HeadingPairs>
  <TitlesOfParts>
    <vt:vector size="17" baseType="lpstr">
      <vt:lpstr>Rubik Medium</vt:lpstr>
      <vt:lpstr>Rubik</vt:lpstr>
      <vt:lpstr>Arial</vt:lpstr>
      <vt:lpstr>Тема Office</vt:lpstr>
      <vt:lpstr>Measuring the Overhead of Trust Mechanisms in the X-Road Data Exchange Layer</vt:lpstr>
      <vt:lpstr>What X-Road is</vt:lpstr>
      <vt:lpstr>Research question</vt:lpstr>
      <vt:lpstr>The measured request path</vt:lpstr>
      <vt:lpstr>What the closest X-Road studies measured</vt:lpstr>
      <vt:lpstr>Broader work used for the method</vt:lpstr>
      <vt:lpstr>Configurations actually run</vt:lpstr>
      <vt:lpstr>Metrics and procedure</vt:lpstr>
      <vt:lpstr>Testbed: three wired machines</vt:lpstr>
      <vt:lpstr>Preliminary results, one client</vt:lpstr>
      <vt:lpstr>Connection setup vs per-message work</vt:lpstr>
      <vt:lpstr>Limitations found so far</vt:lpstr>
      <vt:lpstr>Status and next steps</vt:lpstr>
    </vt:vector>
  </TitlesOfParts>
  <Company>SPecialiST RePack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User</cp:lastModifiedBy>
  <cp:revision>3</cp:revision>
  <dcterms:created xsi:type="dcterms:W3CDTF">2026-10-06T17:46:20Z</dcterms:created>
  <dcterms:modified xsi:type="dcterms:W3CDTF">2026-10-07T06:44:18Z</dcterms:modified>
</cp:coreProperties>
</file>