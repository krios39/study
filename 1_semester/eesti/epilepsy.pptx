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05" d="100"/>
          <a:sy n="105" d="100"/>
        </p:scale>
        <p:origin x="99" y="1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RU" dirty="0"/>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858238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7542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2049248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3D812BB6-9262-465B-B360-DD4857339B9F}" type="datetimeFigureOut">
              <a:rPr lang="ru-RU" smtClean="0"/>
              <a:t>27.09.2026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402428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D812BB6-9262-465B-B360-DD4857339B9F}" type="datetimeFigureOut">
              <a:rPr lang="ru-RU" smtClean="0"/>
              <a:t>27.09.2026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224638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3D812BB6-9262-465B-B360-DD4857339B9F}" type="datetimeFigureOut">
              <a:rPr lang="ru-RU" smtClean="0"/>
              <a:t>27.09.2026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62408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3D812BB6-9262-465B-B360-DD4857339B9F}" type="datetimeFigureOut">
              <a:rPr lang="ru-RU" smtClean="0"/>
              <a:t>27.09.2026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419387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D812BB6-9262-465B-B360-DD4857339B9F}" type="datetimeFigureOut">
              <a:rPr lang="ru-RU" smtClean="0"/>
              <a:t>27.09.2026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16902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D812BB6-9262-465B-B360-DD4857339B9F}" type="datetimeFigureOut">
              <a:rPr lang="ru-RU" smtClean="0"/>
              <a:t>27.09.2026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87257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300632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33F8D18-3074-436E-9E7A-0108D441C3B2}" type="slidenum">
              <a:rPr lang="ru-RU" smtClean="0"/>
              <a:t>‹#›</a:t>
            </a:fld>
            <a:endParaRPr lang="ru-RU"/>
          </a:p>
        </p:txBody>
      </p:sp>
    </p:spTree>
    <p:extLst>
      <p:ext uri="{BB962C8B-B14F-4D97-AF65-F5344CB8AC3E}">
        <p14:creationId xmlns:p14="http://schemas.microsoft.com/office/powerpoint/2010/main" val="372856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812BB6-9262-465B-B360-DD4857339B9F}" type="datetimeFigureOut">
              <a:rPr lang="ru-RU" smtClean="0"/>
              <a:t>27.09.2026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3F8D18-3074-436E-9E7A-0108D441C3B2}" type="slidenum">
              <a:rPr lang="ru-RU" smtClean="0"/>
              <a:t>‹#›</a:t>
            </a:fld>
            <a:endParaRPr lang="ru-RU"/>
          </a:p>
        </p:txBody>
      </p:sp>
    </p:spTree>
    <p:extLst>
      <p:ext uri="{BB962C8B-B14F-4D97-AF65-F5344CB8AC3E}">
        <p14:creationId xmlns:p14="http://schemas.microsoft.com/office/powerpoint/2010/main" val="432858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gif"/></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1489F-1FCA-4B9F-84E6-977E4003ACF5}"/>
              </a:ext>
            </a:extLst>
          </p:cNvPr>
          <p:cNvSpPr txBox="1"/>
          <p:nvPr/>
        </p:nvSpPr>
        <p:spPr>
          <a:xfrm>
            <a:off x="2024932" y="2162756"/>
            <a:ext cx="8142136" cy="2123658"/>
          </a:xfrm>
          <a:prstGeom prst="rect">
            <a:avLst/>
          </a:prstGeom>
          <a:noFill/>
        </p:spPr>
        <p:txBody>
          <a:bodyPr wrap="square">
            <a:spAutoFit/>
          </a:bodyPr>
          <a:lstStyle/>
          <a:p>
            <a:pPr algn="ctr"/>
            <a:r>
              <a:rPr lang="en-US" sz="6600" dirty="0">
                <a:latin typeface="Comic Sans MS" panose="030F0702030302020204" pitchFamily="66" charset="0"/>
              </a:rPr>
              <a:t>H</a:t>
            </a:r>
            <a:r>
              <a:rPr lang="ru-RU" sz="6600" dirty="0" err="1">
                <a:latin typeface="Comic Sans MS" panose="030F0702030302020204" pitchFamily="66" charset="0"/>
              </a:rPr>
              <a:t>uvitav</a:t>
            </a:r>
            <a:r>
              <a:rPr lang="ru-RU" sz="6600" dirty="0">
                <a:latin typeface="Comic Sans MS" panose="030F0702030302020204" pitchFamily="66" charset="0"/>
              </a:rPr>
              <a:t> </a:t>
            </a:r>
            <a:r>
              <a:rPr lang="ru-RU" sz="6600" dirty="0" err="1">
                <a:latin typeface="Comic Sans MS" panose="030F0702030302020204" pitchFamily="66" charset="0"/>
              </a:rPr>
              <a:t>haridusprogramm</a:t>
            </a:r>
            <a:endParaRPr lang="en-US" sz="6600" dirty="0">
              <a:latin typeface="Comic Sans MS" panose="030F0702030302020204" pitchFamily="66" charset="0"/>
            </a:endParaRPr>
          </a:p>
        </p:txBody>
      </p:sp>
      <p:sp>
        <p:nvSpPr>
          <p:cNvPr id="4" name="TextBox 3">
            <a:extLst>
              <a:ext uri="{FF2B5EF4-FFF2-40B4-BE49-F238E27FC236}">
                <a16:creationId xmlns:a16="http://schemas.microsoft.com/office/drawing/2014/main" id="{347AE0F6-3F14-476A-81F5-C89A825AC11C}"/>
              </a:ext>
            </a:extLst>
          </p:cNvPr>
          <p:cNvSpPr txBox="1"/>
          <p:nvPr/>
        </p:nvSpPr>
        <p:spPr>
          <a:xfrm>
            <a:off x="2024932" y="4286414"/>
            <a:ext cx="8142136" cy="584775"/>
          </a:xfrm>
          <a:prstGeom prst="rect">
            <a:avLst/>
          </a:prstGeom>
          <a:noFill/>
        </p:spPr>
        <p:txBody>
          <a:bodyPr wrap="square">
            <a:spAutoFit/>
          </a:bodyPr>
          <a:lstStyle/>
          <a:p>
            <a:pPr algn="ctr"/>
            <a:r>
              <a:rPr lang="en-US" sz="1600" dirty="0">
                <a:latin typeface="Comic Sans MS" panose="030F0702030302020204" pitchFamily="66" charset="0"/>
              </a:rPr>
              <a:t>(</a:t>
            </a:r>
            <a:r>
              <a:rPr lang="en-US" sz="1600" dirty="0" err="1">
                <a:latin typeface="Comic Sans MS" panose="030F0702030302020204" pitchFamily="66" charset="0"/>
              </a:rPr>
              <a:t>valmistas</a:t>
            </a:r>
            <a:r>
              <a:rPr lang="en-US" sz="1600" dirty="0">
                <a:latin typeface="Comic Sans MS" panose="030F0702030302020204" pitchFamily="66" charset="0"/>
              </a:rPr>
              <a:t> Ruslan </a:t>
            </a:r>
            <a:r>
              <a:rPr lang="en-US" sz="1600" dirty="0" err="1">
                <a:latin typeface="Comic Sans MS" panose="030F0702030302020204" pitchFamily="66" charset="0"/>
              </a:rPr>
              <a:t>Katrini</a:t>
            </a:r>
            <a:r>
              <a:rPr lang="en-US" sz="1600" dirty="0">
                <a:latin typeface="Comic Sans MS" panose="030F0702030302020204" pitchFamily="66" charset="0"/>
              </a:rPr>
              <a:t> </a:t>
            </a:r>
            <a:r>
              <a:rPr lang="en-US" sz="1600" dirty="0" err="1">
                <a:latin typeface="Comic Sans MS" panose="030F0702030302020204" pitchFamily="66" charset="0"/>
              </a:rPr>
              <a:t>abiga</a:t>
            </a:r>
            <a:r>
              <a:rPr lang="en-US" sz="1600" dirty="0">
                <a:latin typeface="Comic Sans MS" panose="030F0702030302020204" pitchFamily="66" charset="0"/>
              </a:rPr>
              <a:t>)</a:t>
            </a:r>
          </a:p>
          <a:p>
            <a:pPr algn="ctr"/>
            <a:r>
              <a:rPr lang="en-US" sz="1600" dirty="0">
                <a:solidFill>
                  <a:srgbClr val="B2B2B2"/>
                </a:solidFill>
                <a:latin typeface="Comic Sans MS" panose="030F0702030302020204" pitchFamily="66" charset="0"/>
              </a:rPr>
              <a:t>(made by Ruslan with Katrin help)</a:t>
            </a:r>
          </a:p>
        </p:txBody>
      </p:sp>
    </p:spTree>
    <p:extLst>
      <p:ext uri="{BB962C8B-B14F-4D97-AF65-F5344CB8AC3E}">
        <p14:creationId xmlns:p14="http://schemas.microsoft.com/office/powerpoint/2010/main" val="2530364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77981A2B-8240-4148-A8F2-5C352E11D9C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3455"/>
          <a:stretch/>
        </p:blipFill>
        <p:spPr>
          <a:xfrm>
            <a:off x="898003" y="389612"/>
            <a:ext cx="5025718" cy="5945582"/>
          </a:xfrm>
          <a:prstGeom prst="rect">
            <a:avLst/>
          </a:prstGeom>
        </p:spPr>
      </p:pic>
      <p:sp>
        <p:nvSpPr>
          <p:cNvPr id="4" name="Rectangle 2">
            <a:extLst>
              <a:ext uri="{FF2B5EF4-FFF2-40B4-BE49-F238E27FC236}">
                <a16:creationId xmlns:a16="http://schemas.microsoft.com/office/drawing/2014/main" id="{0133BDF4-3AE5-4B9F-960A-0AF16268E4B8}"/>
              </a:ext>
            </a:extLst>
          </p:cNvPr>
          <p:cNvSpPr>
            <a:spLocks noChangeArrowheads="1"/>
          </p:cNvSpPr>
          <p:nvPr/>
        </p:nvSpPr>
        <p:spPr bwMode="auto">
          <a:xfrm>
            <a:off x="6268280" y="1905506"/>
            <a:ext cx="573023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3200" b="0" i="0" u="none" strike="noStrike" cap="none" normalizeH="0" baseline="0" dirty="0" err="1">
                <a:ln>
                  <a:noFill/>
                </a:ln>
                <a:solidFill>
                  <a:srgbClr val="000000"/>
                </a:solidFill>
                <a:effectLst/>
                <a:latin typeface="Comic Sans MS" panose="030F0702030302020204" pitchFamily="66" charset="0"/>
              </a:rPr>
              <a:t>Tere</a:t>
            </a:r>
            <a:r>
              <a:rPr kumimoji="0" lang="en-US" altLang="ru-RU" sz="3200" b="0" i="0" u="none" strike="noStrike" cap="none" normalizeH="0" baseline="0" dirty="0">
                <a:ln>
                  <a:noFill/>
                </a:ln>
                <a:solidFill>
                  <a:srgbClr val="000000"/>
                </a:solidFill>
                <a:effectLst/>
                <a:latin typeface="Comic Sans MS" panose="030F0702030302020204" pitchFamily="66" charset="0"/>
              </a:rPr>
              <a:t>! </a:t>
            </a:r>
            <a:endParaRPr kumimoji="0" lang="ru-RU" altLang="ru-RU" sz="3200" b="0" i="0" u="none" strike="noStrike" cap="none" normalizeH="0" baseline="0" dirty="0">
              <a:ln>
                <a:noFill/>
              </a:ln>
              <a:solidFill>
                <a:srgbClr val="00000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3200" b="0" i="0" u="none" strike="noStrike" cap="none" normalizeH="0" baseline="0" dirty="0" err="1">
                <a:ln>
                  <a:noFill/>
                </a:ln>
                <a:solidFill>
                  <a:schemeClr val="tx1"/>
                </a:solidFill>
                <a:effectLst/>
                <a:latin typeface="Comic Sans MS" panose="030F0702030302020204" pitchFamily="66" charset="0"/>
              </a:rPr>
              <a:t>Nagu</a:t>
            </a:r>
            <a:r>
              <a:rPr kumimoji="0" lang="en-US" altLang="ru-RU" sz="3200" b="0" i="0" u="none" strike="noStrike" cap="none" normalizeH="0" baseline="0" dirty="0">
                <a:ln>
                  <a:noFill/>
                </a:ln>
                <a:solidFill>
                  <a:schemeClr val="tx1"/>
                </a:solidFill>
                <a:effectLst/>
                <a:latin typeface="Comic Sans MS" panose="030F0702030302020204" pitchFamily="66" charset="0"/>
              </a:rPr>
              <a:t> </a:t>
            </a:r>
            <a:r>
              <a:rPr kumimoji="0" lang="en-US" altLang="ru-RU" sz="3200" b="0" i="0" u="none" strike="noStrike" cap="none" normalizeH="0" baseline="0" dirty="0" err="1">
                <a:ln>
                  <a:noFill/>
                </a:ln>
                <a:solidFill>
                  <a:schemeClr val="tx1"/>
                </a:solidFill>
                <a:effectLst/>
                <a:latin typeface="Comic Sans MS" panose="030F0702030302020204" pitchFamily="66" charset="0"/>
              </a:rPr>
              <a:t>te</a:t>
            </a:r>
            <a:r>
              <a:rPr kumimoji="0" lang="en-US" altLang="ru-RU" sz="3200" b="0" i="0" u="none" strike="noStrike" cap="none" normalizeH="0" baseline="0" dirty="0">
                <a:ln>
                  <a:noFill/>
                </a:ln>
                <a:solidFill>
                  <a:schemeClr val="tx1"/>
                </a:solidFill>
                <a:effectLst/>
                <a:latin typeface="Comic Sans MS" panose="030F0702030302020204" pitchFamily="66" charset="0"/>
              </a:rPr>
              <a:t> </a:t>
            </a:r>
            <a:r>
              <a:rPr kumimoji="0" lang="en-US" altLang="ru-RU" sz="3200" b="0" i="0" u="none" strike="noStrike" cap="none" normalizeH="0" baseline="0" dirty="0" err="1">
                <a:ln>
                  <a:noFill/>
                </a:ln>
                <a:solidFill>
                  <a:schemeClr val="tx1"/>
                </a:solidFill>
                <a:effectLst/>
                <a:latin typeface="Comic Sans MS" panose="030F0702030302020204" pitchFamily="66" charset="0"/>
              </a:rPr>
              <a:t>kõik</a:t>
            </a:r>
            <a:r>
              <a:rPr kumimoji="0" lang="en-US" altLang="ru-RU" sz="3200" b="0" i="0" u="none" strike="noStrike" cap="none" normalizeH="0" baseline="0" dirty="0">
                <a:ln>
                  <a:noFill/>
                </a:ln>
                <a:solidFill>
                  <a:schemeClr val="tx1"/>
                </a:solidFill>
                <a:effectLst/>
                <a:latin typeface="Comic Sans MS" panose="030F0702030302020204" pitchFamily="66" charset="0"/>
              </a:rPr>
              <a:t> </a:t>
            </a:r>
            <a:r>
              <a:rPr kumimoji="0" lang="en-US" altLang="ru-RU" sz="3200" b="0" i="0" u="none" strike="noStrike" cap="none" normalizeH="0" baseline="0" dirty="0" err="1">
                <a:ln>
                  <a:noFill/>
                </a:ln>
                <a:solidFill>
                  <a:schemeClr val="tx1"/>
                </a:solidFill>
                <a:effectLst/>
                <a:latin typeface="Comic Sans MS" panose="030F0702030302020204" pitchFamily="66" charset="0"/>
              </a:rPr>
              <a:t>teate</a:t>
            </a:r>
            <a:r>
              <a:rPr lang="ru-RU" altLang="ru-RU" sz="3200" dirty="0">
                <a:solidFill>
                  <a:srgbClr val="000000"/>
                </a:solidFill>
                <a:latin typeface="Comic Sans MS" panose="030F0702030302020204" pitchFamily="66" charset="0"/>
              </a:rPr>
              <a:t> </a:t>
            </a:r>
            <a:r>
              <a:rPr lang="en-US" altLang="ru-RU" sz="3200" dirty="0" err="1">
                <a:solidFill>
                  <a:srgbClr val="000000"/>
                </a:solidFill>
                <a:latin typeface="Comic Sans MS" panose="030F0702030302020204" pitchFamily="66" charset="0"/>
              </a:rPr>
              <a:t>minu</a:t>
            </a:r>
            <a:r>
              <a:rPr lang="en-US" altLang="ru-RU" sz="3200" dirty="0">
                <a:solidFill>
                  <a:srgbClr val="000000"/>
                </a:solidFill>
                <a:latin typeface="Comic Sans MS" panose="030F0702030302020204" pitchFamily="66" charset="0"/>
              </a:rPr>
              <a:t> mini on Ruslan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RU" sz="3200" b="0" i="0" u="none" strike="noStrike" cap="none" normalizeH="0" baseline="0" dirty="0">
                <a:ln>
                  <a:noFill/>
                </a:ln>
                <a:solidFill>
                  <a:srgbClr val="000000"/>
                </a:solidFill>
                <a:effectLst/>
                <a:latin typeface="Comic Sans MS" panose="030F0702030302020204" pitchFamily="66" charset="0"/>
              </a:rPr>
              <a:t>Ma </a:t>
            </a:r>
            <a:r>
              <a:rPr kumimoji="0" lang="en-US" altLang="ru-RU" sz="3200" b="0" i="0" u="none" strike="noStrike" cap="none" normalizeH="0" baseline="0" dirty="0" err="1">
                <a:ln>
                  <a:noFill/>
                </a:ln>
                <a:solidFill>
                  <a:srgbClr val="000000"/>
                </a:solidFill>
                <a:effectLst/>
                <a:latin typeface="Comic Sans MS" panose="030F0702030302020204" pitchFamily="66" charset="0"/>
              </a:rPr>
              <a:t>olen</a:t>
            </a:r>
            <a:r>
              <a:rPr kumimoji="0" lang="en-US" altLang="ru-RU" sz="3200" b="0" i="0" u="none" strike="noStrike" cap="none" normalizeH="0" baseline="0" dirty="0">
                <a:ln>
                  <a:noFill/>
                </a:ln>
                <a:solidFill>
                  <a:srgbClr val="000000"/>
                </a:solidFill>
                <a:effectLst/>
                <a:latin typeface="Comic Sans MS" panose="030F0702030302020204" pitchFamily="66" charset="0"/>
              </a:rPr>
              <a:t> 26</a:t>
            </a:r>
            <a:r>
              <a:rPr lang="en-US" altLang="ru-RU" sz="3200" dirty="0">
                <a:solidFill>
                  <a:srgbClr val="000000"/>
                </a:solidFill>
                <a:latin typeface="Comic Sans MS" panose="030F0702030302020204" pitchFamily="66" charset="0"/>
              </a:rPr>
              <a:t> </a:t>
            </a:r>
            <a:r>
              <a:rPr lang="en-US" altLang="ru-RU" sz="3200" dirty="0" err="1">
                <a:solidFill>
                  <a:srgbClr val="000000"/>
                </a:solidFill>
                <a:latin typeface="Comic Sans MS" panose="030F0702030302020204" pitchFamily="66" charset="0"/>
              </a:rPr>
              <a:t>aastat</a:t>
            </a:r>
            <a:r>
              <a:rPr lang="en-US" altLang="ru-RU" sz="3200" dirty="0">
                <a:solidFill>
                  <a:srgbClr val="000000"/>
                </a:solidFill>
                <a:latin typeface="Comic Sans MS" panose="030F0702030302020204" pitchFamily="66" charset="0"/>
              </a:rPr>
              <a:t> vane</a:t>
            </a:r>
          </a:p>
          <a:p>
            <a:pPr marL="0" marR="0" lvl="0" indent="0" algn="l" defTabSz="914400" rtl="0" eaLnBrk="0" fontAlgn="base" latinLnBrk="0" hangingPunct="0">
              <a:lnSpc>
                <a:spcPct val="100000"/>
              </a:lnSpc>
              <a:spcBef>
                <a:spcPct val="0"/>
              </a:spcBef>
              <a:spcAft>
                <a:spcPct val="0"/>
              </a:spcAft>
              <a:buClrTx/>
              <a:buSzTx/>
              <a:buFontTx/>
              <a:buNone/>
              <a:tabLst/>
            </a:pPr>
            <a:r>
              <a:rPr kumimoji="0" lang="fi-FI" altLang="ru-RU" sz="3200" b="0" i="0" u="none" strike="noStrike" cap="none" normalizeH="0" baseline="0" dirty="0">
                <a:ln>
                  <a:noFill/>
                </a:ln>
                <a:solidFill>
                  <a:schemeClr val="tx1"/>
                </a:solidFill>
                <a:effectLst/>
                <a:latin typeface="Comic Sans MS" panose="030F0702030302020204" pitchFamily="66" charset="0"/>
              </a:rPr>
              <a:t>Ma olen pärit Kasahstanist ja olen tatarlane</a:t>
            </a:r>
            <a:endParaRPr kumimoji="0" lang="ru-RU" altLang="ru-RU" sz="3200" b="0" i="0" u="none" strike="noStrike" cap="none" normalizeH="0" baseline="0" dirty="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177245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5161B38-8BFE-4FDE-85A2-4DF2F1A1188C}"/>
              </a:ext>
            </a:extLst>
          </p:cNvPr>
          <p:cNvSpPr>
            <a:spLocks noChangeArrowheads="1"/>
          </p:cNvSpPr>
          <p:nvPr/>
        </p:nvSpPr>
        <p:spPr bwMode="auto">
          <a:xfrm>
            <a:off x="1240403" y="2705726"/>
            <a:ext cx="10392355"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но некоторых вещей обо мне вы не знаете (или знают только некоторые из вас)</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я в магистратуре </a:t>
            </a:r>
            <a:r>
              <a:rPr kumimoji="0" lang="ru-RU" altLang="ru-RU" sz="1100" b="0" i="0" u="none" strike="noStrike" cap="none" normalizeH="0" baseline="0" dirty="0" err="1">
                <a:ln>
                  <a:noFill/>
                </a:ln>
                <a:solidFill>
                  <a:srgbClr val="000000"/>
                </a:solidFill>
                <a:effectLst/>
                <a:latin typeface="Google Sans Text"/>
              </a:rPr>
              <a:t>computer</a:t>
            </a:r>
            <a:r>
              <a:rPr kumimoji="0" lang="ru-RU" altLang="ru-RU" sz="1100" b="0" i="0" u="none" strike="noStrike" cap="none" normalizeH="0" baseline="0" dirty="0">
                <a:ln>
                  <a:noFill/>
                </a:ln>
                <a:solidFill>
                  <a:srgbClr val="000000"/>
                </a:solidFill>
                <a:effectLst/>
                <a:latin typeface="Google Sans Text"/>
              </a:rPr>
              <a:t> </a:t>
            </a:r>
            <a:r>
              <a:rPr kumimoji="0" lang="ru-RU" altLang="ru-RU" sz="1100" b="0" i="0" u="none" strike="noStrike" cap="none" normalizeH="0" baseline="0" dirty="0" err="1">
                <a:ln>
                  <a:noFill/>
                </a:ln>
                <a:solidFill>
                  <a:srgbClr val="000000"/>
                </a:solidFill>
                <a:effectLst/>
                <a:latin typeface="Google Sans Text"/>
              </a:rPr>
              <a:t>science</a:t>
            </a:r>
            <a:endParaRPr kumimoji="0" lang="ru-RU" altLang="ru-RU" sz="1100" b="0" i="0" u="none" strike="noStrike" cap="none" normalizeH="0" baseline="0" dirty="0">
              <a:ln>
                <a:noFill/>
              </a:ln>
              <a:solidFill>
                <a:srgbClr val="00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100" dirty="0">
                <a:solidFill>
                  <a:srgbClr val="000000"/>
                </a:solidFill>
                <a:latin typeface="Google Sans Text"/>
              </a:rPr>
              <a:t>я люблю пиво</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я в разводе (предыдущие 2 факта никак между собой не связаны)</a:t>
            </a:r>
            <a:endParaRPr kumimoji="0" lang="en-US" altLang="ru-RU" sz="1100" b="0" i="0" u="none" strike="noStrike" cap="none" normalizeH="0" baseline="0" dirty="0">
              <a:ln>
                <a:noFill/>
              </a:ln>
              <a:solidFill>
                <a:srgbClr val="000000"/>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lang="ru-RU" altLang="ru-RU" sz="1100" dirty="0">
                <a:solidFill>
                  <a:srgbClr val="000000"/>
                </a:solidFill>
                <a:latin typeface="Google Sans Text"/>
              </a:rPr>
              <a:t>я</a:t>
            </a:r>
            <a:r>
              <a:rPr kumimoji="0" lang="ru-RU" altLang="ru-RU" sz="1100" b="0" i="0" u="none" strike="noStrike" cap="none" normalizeH="0" baseline="0" dirty="0">
                <a:ln>
                  <a:noFill/>
                </a:ln>
                <a:solidFill>
                  <a:srgbClr val="000000"/>
                </a:solidFill>
                <a:effectLst/>
                <a:latin typeface="Google Sans Text"/>
              </a:rPr>
              <a:t> делаю классные презентации</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я эпилептик *страшная музыка* и это одна из главных причин почему я стараюсь учить языки (в частности эстонский). для меня критически важно рассказывать людям что нужно делать во время эпилептического приступа (когда я рассказал </a:t>
            </a:r>
            <a:r>
              <a:rPr kumimoji="0" lang="ru-RU" altLang="ru-RU" sz="1100" b="0" i="0" u="none" strike="noStrike" cap="none" normalizeH="0" baseline="0" dirty="0" err="1">
                <a:ln>
                  <a:noFill/>
                </a:ln>
                <a:solidFill>
                  <a:srgbClr val="000000"/>
                </a:solidFill>
                <a:effectLst/>
                <a:latin typeface="Google Sans Text"/>
              </a:rPr>
              <a:t>Фидан</a:t>
            </a:r>
            <a:r>
              <a:rPr kumimoji="0" lang="ru-RU" altLang="ru-RU" sz="1100" b="0" i="0" u="none" strike="noStrike" cap="none" normalizeH="0" baseline="0" dirty="0">
                <a:ln>
                  <a:noFill/>
                </a:ln>
                <a:solidFill>
                  <a:srgbClr val="000000"/>
                </a:solidFill>
                <a:effectLst/>
                <a:latin typeface="Google Sans Text"/>
              </a:rPr>
              <a:t> о том что я эпилептик и я рассказал ей как себя вести она спросила "А кто-то ещё в курсе?" и я гордо ответил "Нет", что и подало мне идею провести такой ликбез на эстонском)</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85562ED9-F1E6-42DB-9545-7CB33FEA71CC}"/>
              </a:ext>
            </a:extLst>
          </p:cNvPr>
          <p:cNvSpPr txBox="1"/>
          <p:nvPr/>
        </p:nvSpPr>
        <p:spPr>
          <a:xfrm>
            <a:off x="3047338" y="1441853"/>
            <a:ext cx="6094674" cy="3970318"/>
          </a:xfrm>
          <a:prstGeom prst="rect">
            <a:avLst/>
          </a:prstGeom>
          <a:noFill/>
        </p:spPr>
        <p:txBody>
          <a:bodyPr wrap="square">
            <a:spAutoFit/>
          </a:bodyPr>
          <a:lstStyle/>
          <a:p>
            <a:r>
              <a:rPr lang="ru-RU" dirty="0" err="1"/>
              <a:t>Aga</a:t>
            </a:r>
            <a:r>
              <a:rPr lang="ru-RU" dirty="0"/>
              <a:t> </a:t>
            </a:r>
            <a:r>
              <a:rPr lang="ru-RU" dirty="0" err="1"/>
              <a:t>on</a:t>
            </a:r>
            <a:r>
              <a:rPr lang="ru-RU" dirty="0"/>
              <a:t> </a:t>
            </a:r>
            <a:r>
              <a:rPr lang="ru-RU" dirty="0" err="1"/>
              <a:t>mõned</a:t>
            </a:r>
            <a:r>
              <a:rPr lang="ru-RU" dirty="0"/>
              <a:t> </a:t>
            </a:r>
            <a:r>
              <a:rPr lang="ru-RU" dirty="0" err="1"/>
              <a:t>asjad</a:t>
            </a:r>
            <a:r>
              <a:rPr lang="ru-RU" dirty="0"/>
              <a:t>, </a:t>
            </a:r>
            <a:r>
              <a:rPr lang="ru-RU" dirty="0" err="1"/>
              <a:t>mida</a:t>
            </a:r>
            <a:r>
              <a:rPr lang="ru-RU" dirty="0"/>
              <a:t> </a:t>
            </a:r>
            <a:r>
              <a:rPr lang="ru-RU" dirty="0" err="1"/>
              <a:t>te</a:t>
            </a:r>
            <a:r>
              <a:rPr lang="ru-RU" dirty="0"/>
              <a:t> </a:t>
            </a:r>
            <a:r>
              <a:rPr lang="ru-RU" dirty="0" err="1"/>
              <a:t>minu</a:t>
            </a:r>
            <a:r>
              <a:rPr lang="ru-RU" dirty="0"/>
              <a:t> </a:t>
            </a:r>
            <a:r>
              <a:rPr lang="ru-RU" dirty="0" err="1"/>
              <a:t>kohta</a:t>
            </a:r>
            <a:r>
              <a:rPr lang="ru-RU" dirty="0"/>
              <a:t> </a:t>
            </a:r>
            <a:r>
              <a:rPr lang="ru-RU" dirty="0" err="1"/>
              <a:t>ei</a:t>
            </a:r>
            <a:r>
              <a:rPr lang="ru-RU" dirty="0"/>
              <a:t> </a:t>
            </a:r>
            <a:r>
              <a:rPr lang="ru-RU" dirty="0" err="1"/>
              <a:t>tea</a:t>
            </a:r>
            <a:r>
              <a:rPr lang="ru-RU" dirty="0"/>
              <a:t> (</a:t>
            </a:r>
            <a:r>
              <a:rPr lang="ru-RU" dirty="0" err="1"/>
              <a:t>või</a:t>
            </a:r>
            <a:r>
              <a:rPr lang="ru-RU" dirty="0"/>
              <a:t> </a:t>
            </a:r>
            <a:r>
              <a:rPr lang="ru-RU" dirty="0" err="1"/>
              <a:t>teavad</a:t>
            </a:r>
            <a:r>
              <a:rPr lang="ru-RU" dirty="0"/>
              <a:t> </a:t>
            </a:r>
            <a:r>
              <a:rPr lang="ru-RU" dirty="0" err="1"/>
              <a:t>ainult</a:t>
            </a:r>
            <a:r>
              <a:rPr lang="ru-RU" dirty="0"/>
              <a:t> </a:t>
            </a:r>
            <a:r>
              <a:rPr lang="ru-RU" dirty="0" err="1"/>
              <a:t>mõned</a:t>
            </a:r>
            <a:r>
              <a:rPr lang="ru-RU" dirty="0"/>
              <a:t> </a:t>
            </a:r>
            <a:r>
              <a:rPr lang="ru-RU" dirty="0" err="1"/>
              <a:t>teist</a:t>
            </a:r>
            <a:r>
              <a:rPr lang="ru-RU" dirty="0"/>
              <a:t>):</a:t>
            </a:r>
          </a:p>
          <a:p>
            <a:endParaRPr lang="ru-RU" dirty="0"/>
          </a:p>
          <a:p>
            <a:r>
              <a:rPr lang="ru-RU" dirty="0" err="1"/>
              <a:t>Ma</a:t>
            </a:r>
            <a:r>
              <a:rPr lang="ru-RU" dirty="0"/>
              <a:t> </a:t>
            </a:r>
            <a:r>
              <a:rPr lang="ru-RU" dirty="0" err="1"/>
              <a:t>olen</a:t>
            </a:r>
            <a:r>
              <a:rPr lang="ru-RU" dirty="0"/>
              <a:t> </a:t>
            </a:r>
            <a:r>
              <a:rPr lang="ru-RU" dirty="0" err="1"/>
              <a:t>arvutiteaduse</a:t>
            </a:r>
            <a:r>
              <a:rPr lang="ru-RU" dirty="0"/>
              <a:t> </a:t>
            </a:r>
            <a:r>
              <a:rPr lang="ru-RU" dirty="0" err="1"/>
              <a:t>magistrant</a:t>
            </a:r>
            <a:endParaRPr lang="ru-RU" dirty="0"/>
          </a:p>
          <a:p>
            <a:r>
              <a:rPr lang="ru-RU" dirty="0" err="1"/>
              <a:t>Ma</a:t>
            </a:r>
            <a:r>
              <a:rPr lang="ru-RU" dirty="0"/>
              <a:t> </a:t>
            </a:r>
            <a:r>
              <a:rPr lang="ru-RU" dirty="0" err="1"/>
              <a:t>armastan</a:t>
            </a:r>
            <a:r>
              <a:rPr lang="ru-RU" dirty="0"/>
              <a:t> </a:t>
            </a:r>
            <a:r>
              <a:rPr lang="ru-RU" dirty="0" err="1"/>
              <a:t>õlut</a:t>
            </a:r>
            <a:endParaRPr lang="ru-RU" dirty="0"/>
          </a:p>
          <a:p>
            <a:r>
              <a:rPr lang="ru-RU" dirty="0" err="1"/>
              <a:t>Ma</a:t>
            </a:r>
            <a:r>
              <a:rPr lang="ru-RU" dirty="0"/>
              <a:t> </a:t>
            </a:r>
            <a:r>
              <a:rPr lang="ru-RU" dirty="0" err="1"/>
              <a:t>olen</a:t>
            </a:r>
            <a:r>
              <a:rPr lang="ru-RU" dirty="0"/>
              <a:t> </a:t>
            </a:r>
            <a:r>
              <a:rPr lang="ru-RU" dirty="0" err="1"/>
              <a:t>lahutatud</a:t>
            </a:r>
            <a:r>
              <a:rPr lang="ru-RU" dirty="0"/>
              <a:t> (</a:t>
            </a:r>
            <a:r>
              <a:rPr lang="ru-RU" dirty="0" err="1"/>
              <a:t>kaks</a:t>
            </a:r>
            <a:r>
              <a:rPr lang="ru-RU" dirty="0"/>
              <a:t> </a:t>
            </a:r>
            <a:r>
              <a:rPr lang="ru-RU" dirty="0" err="1"/>
              <a:t>eelnevat</a:t>
            </a:r>
            <a:r>
              <a:rPr lang="ru-RU" dirty="0"/>
              <a:t> </a:t>
            </a:r>
            <a:r>
              <a:rPr lang="ru-RU" dirty="0" err="1"/>
              <a:t>fakti</a:t>
            </a:r>
            <a:r>
              <a:rPr lang="ru-RU" dirty="0"/>
              <a:t> </a:t>
            </a:r>
            <a:r>
              <a:rPr lang="ru-RU" dirty="0" err="1"/>
              <a:t>on</a:t>
            </a:r>
            <a:r>
              <a:rPr lang="ru-RU" dirty="0"/>
              <a:t> </a:t>
            </a:r>
            <a:r>
              <a:rPr lang="ru-RU" dirty="0" err="1"/>
              <a:t>täiesti</a:t>
            </a:r>
            <a:r>
              <a:rPr lang="ru-RU" dirty="0"/>
              <a:t> </a:t>
            </a:r>
            <a:r>
              <a:rPr lang="ru-RU" dirty="0" err="1"/>
              <a:t>mitteseotud</a:t>
            </a:r>
            <a:r>
              <a:rPr lang="ru-RU" dirty="0"/>
              <a:t>)</a:t>
            </a:r>
          </a:p>
          <a:p>
            <a:r>
              <a:rPr lang="ru-RU" dirty="0" err="1"/>
              <a:t>Ma</a:t>
            </a:r>
            <a:r>
              <a:rPr lang="ru-RU" dirty="0"/>
              <a:t> </a:t>
            </a:r>
            <a:r>
              <a:rPr lang="ru-RU" dirty="0" err="1"/>
              <a:t>pean</a:t>
            </a:r>
            <a:r>
              <a:rPr lang="ru-RU" dirty="0"/>
              <a:t> </a:t>
            </a:r>
            <a:r>
              <a:rPr lang="ru-RU" dirty="0" err="1"/>
              <a:t>suurepäraseid</a:t>
            </a:r>
            <a:r>
              <a:rPr lang="ru-RU" dirty="0"/>
              <a:t> </a:t>
            </a:r>
            <a:r>
              <a:rPr lang="ru-RU" dirty="0" err="1"/>
              <a:t>esitlusi</a:t>
            </a:r>
            <a:endParaRPr lang="ru-RU" dirty="0"/>
          </a:p>
          <a:p>
            <a:r>
              <a:rPr lang="ru-RU" dirty="0" err="1"/>
              <a:t>Ma</a:t>
            </a:r>
            <a:r>
              <a:rPr lang="ru-RU" dirty="0"/>
              <a:t> </a:t>
            </a:r>
            <a:r>
              <a:rPr lang="ru-RU" dirty="0" err="1"/>
              <a:t>olen</a:t>
            </a:r>
            <a:r>
              <a:rPr lang="ru-RU" dirty="0"/>
              <a:t> </a:t>
            </a:r>
            <a:r>
              <a:rPr lang="ru-RU" dirty="0" err="1"/>
              <a:t>epileptik</a:t>
            </a:r>
            <a:r>
              <a:rPr lang="ru-RU" dirty="0"/>
              <a:t> *</a:t>
            </a:r>
            <a:r>
              <a:rPr lang="ru-RU" dirty="0" err="1"/>
              <a:t>hirmutav</a:t>
            </a:r>
            <a:r>
              <a:rPr lang="ru-RU" dirty="0"/>
              <a:t> </a:t>
            </a:r>
            <a:r>
              <a:rPr lang="ru-RU" dirty="0" err="1"/>
              <a:t>muusika</a:t>
            </a:r>
            <a:r>
              <a:rPr lang="ru-RU" dirty="0"/>
              <a:t>* </a:t>
            </a:r>
            <a:r>
              <a:rPr lang="ru-RU" dirty="0" err="1"/>
              <a:t>ja</a:t>
            </a:r>
            <a:r>
              <a:rPr lang="ru-RU" dirty="0"/>
              <a:t> </a:t>
            </a:r>
            <a:r>
              <a:rPr lang="ru-RU" dirty="0" err="1"/>
              <a:t>see</a:t>
            </a:r>
            <a:r>
              <a:rPr lang="ru-RU" dirty="0"/>
              <a:t> </a:t>
            </a:r>
            <a:r>
              <a:rPr lang="ru-RU" dirty="0" err="1"/>
              <a:t>on</a:t>
            </a:r>
            <a:r>
              <a:rPr lang="ru-RU" dirty="0"/>
              <a:t> </a:t>
            </a:r>
            <a:r>
              <a:rPr lang="ru-RU" dirty="0" err="1"/>
              <a:t>üks</a:t>
            </a:r>
            <a:r>
              <a:rPr lang="ru-RU" dirty="0"/>
              <a:t> </a:t>
            </a:r>
            <a:r>
              <a:rPr lang="ru-RU" dirty="0" err="1"/>
              <a:t>peamisi</a:t>
            </a:r>
            <a:r>
              <a:rPr lang="ru-RU" dirty="0"/>
              <a:t> </a:t>
            </a:r>
            <a:r>
              <a:rPr lang="ru-RU" dirty="0" err="1"/>
              <a:t>põhjuseid</a:t>
            </a:r>
            <a:r>
              <a:rPr lang="ru-RU" dirty="0"/>
              <a:t>, </a:t>
            </a:r>
            <a:r>
              <a:rPr lang="ru-RU" dirty="0" err="1"/>
              <a:t>miks</a:t>
            </a:r>
            <a:r>
              <a:rPr lang="ru-RU" dirty="0"/>
              <a:t> </a:t>
            </a:r>
            <a:r>
              <a:rPr lang="ru-RU" dirty="0" err="1"/>
              <a:t>ma</a:t>
            </a:r>
            <a:r>
              <a:rPr lang="ru-RU" dirty="0"/>
              <a:t> </a:t>
            </a:r>
            <a:r>
              <a:rPr lang="ru-RU" dirty="0" err="1"/>
              <a:t>püüan</a:t>
            </a:r>
            <a:r>
              <a:rPr lang="ru-RU" dirty="0"/>
              <a:t> </a:t>
            </a:r>
            <a:r>
              <a:rPr lang="ru-RU" dirty="0" err="1"/>
              <a:t>keeli</a:t>
            </a:r>
            <a:r>
              <a:rPr lang="ru-RU" dirty="0"/>
              <a:t> </a:t>
            </a:r>
            <a:r>
              <a:rPr lang="ru-RU" dirty="0" err="1"/>
              <a:t>õppida</a:t>
            </a:r>
            <a:r>
              <a:rPr lang="ru-RU" dirty="0"/>
              <a:t> (</a:t>
            </a:r>
            <a:r>
              <a:rPr lang="ru-RU" dirty="0" err="1"/>
              <a:t>eriti</a:t>
            </a:r>
            <a:r>
              <a:rPr lang="ru-RU" dirty="0"/>
              <a:t> </a:t>
            </a:r>
            <a:r>
              <a:rPr lang="ru-RU" dirty="0" err="1"/>
              <a:t>eesti</a:t>
            </a:r>
            <a:r>
              <a:rPr lang="ru-RU" dirty="0"/>
              <a:t> </a:t>
            </a:r>
            <a:r>
              <a:rPr lang="ru-RU" dirty="0" err="1"/>
              <a:t>keelt</a:t>
            </a:r>
            <a:r>
              <a:rPr lang="ru-RU" dirty="0"/>
              <a:t>). </a:t>
            </a:r>
            <a:r>
              <a:rPr lang="ru-RU" dirty="0" err="1"/>
              <a:t>Minu</a:t>
            </a:r>
            <a:r>
              <a:rPr lang="ru-RU" dirty="0"/>
              <a:t> </a:t>
            </a:r>
            <a:r>
              <a:rPr lang="ru-RU" dirty="0" err="1"/>
              <a:t>jaoks</a:t>
            </a:r>
            <a:r>
              <a:rPr lang="ru-RU" dirty="0"/>
              <a:t> </a:t>
            </a:r>
            <a:r>
              <a:rPr lang="ru-RU" dirty="0" err="1"/>
              <a:t>on</a:t>
            </a:r>
            <a:r>
              <a:rPr lang="ru-RU" dirty="0"/>
              <a:t> </a:t>
            </a:r>
            <a:r>
              <a:rPr lang="ru-RU" dirty="0" err="1"/>
              <a:t>ülioluline</a:t>
            </a:r>
            <a:r>
              <a:rPr lang="ru-RU" dirty="0"/>
              <a:t> </a:t>
            </a:r>
            <a:r>
              <a:rPr lang="ru-RU" dirty="0" err="1"/>
              <a:t>öelda</a:t>
            </a:r>
            <a:r>
              <a:rPr lang="ru-RU" dirty="0"/>
              <a:t> </a:t>
            </a:r>
            <a:r>
              <a:rPr lang="ru-RU" dirty="0" err="1"/>
              <a:t>inimestele</a:t>
            </a:r>
            <a:r>
              <a:rPr lang="ru-RU" dirty="0"/>
              <a:t>, </a:t>
            </a:r>
            <a:r>
              <a:rPr lang="ru-RU" dirty="0" err="1"/>
              <a:t>mida</a:t>
            </a:r>
            <a:r>
              <a:rPr lang="ru-RU" dirty="0"/>
              <a:t> </a:t>
            </a:r>
            <a:r>
              <a:rPr lang="ru-RU" dirty="0" err="1"/>
              <a:t>epilepsiahoo</a:t>
            </a:r>
            <a:r>
              <a:rPr lang="ru-RU" dirty="0"/>
              <a:t> </a:t>
            </a:r>
            <a:r>
              <a:rPr lang="ru-RU" dirty="0" err="1"/>
              <a:t>ajal</a:t>
            </a:r>
            <a:r>
              <a:rPr lang="ru-RU" dirty="0"/>
              <a:t> </a:t>
            </a:r>
            <a:r>
              <a:rPr lang="ru-RU" dirty="0" err="1"/>
              <a:t>teha</a:t>
            </a:r>
            <a:r>
              <a:rPr lang="ru-RU" dirty="0"/>
              <a:t> (</a:t>
            </a:r>
            <a:r>
              <a:rPr lang="ru-RU" dirty="0" err="1"/>
              <a:t>kui</a:t>
            </a:r>
            <a:r>
              <a:rPr lang="ru-RU" dirty="0"/>
              <a:t> </a:t>
            </a:r>
            <a:r>
              <a:rPr lang="ru-RU" dirty="0" err="1"/>
              <a:t>ma</a:t>
            </a:r>
            <a:r>
              <a:rPr lang="ru-RU" dirty="0"/>
              <a:t> </a:t>
            </a:r>
            <a:r>
              <a:rPr lang="ru-RU" dirty="0" err="1"/>
              <a:t>ütlesin</a:t>
            </a:r>
            <a:r>
              <a:rPr lang="ru-RU" dirty="0"/>
              <a:t> </a:t>
            </a:r>
            <a:r>
              <a:rPr lang="ru-RU" dirty="0" err="1"/>
              <a:t>Fidanile</a:t>
            </a:r>
            <a:r>
              <a:rPr lang="ru-RU" dirty="0"/>
              <a:t>, </a:t>
            </a:r>
            <a:r>
              <a:rPr lang="ru-RU" dirty="0" err="1"/>
              <a:t>et</a:t>
            </a:r>
            <a:r>
              <a:rPr lang="ru-RU" dirty="0"/>
              <a:t> </a:t>
            </a:r>
            <a:r>
              <a:rPr lang="ru-RU" dirty="0" err="1"/>
              <a:t>mul</a:t>
            </a:r>
            <a:r>
              <a:rPr lang="ru-RU" dirty="0"/>
              <a:t> </a:t>
            </a:r>
            <a:r>
              <a:rPr lang="ru-RU" dirty="0" err="1"/>
              <a:t>on</a:t>
            </a:r>
            <a:r>
              <a:rPr lang="ru-RU" dirty="0"/>
              <a:t> </a:t>
            </a:r>
            <a:r>
              <a:rPr lang="ru-RU" dirty="0" err="1"/>
              <a:t>epileptik</a:t>
            </a:r>
            <a:r>
              <a:rPr lang="ru-RU" dirty="0"/>
              <a:t> </a:t>
            </a:r>
            <a:r>
              <a:rPr lang="ru-RU" dirty="0" err="1"/>
              <a:t>ja</a:t>
            </a:r>
            <a:r>
              <a:rPr lang="ru-RU" dirty="0"/>
              <a:t> </a:t>
            </a:r>
            <a:r>
              <a:rPr lang="ru-RU" dirty="0" err="1"/>
              <a:t>selgitasin</a:t>
            </a:r>
            <a:r>
              <a:rPr lang="ru-RU" dirty="0"/>
              <a:t>, </a:t>
            </a:r>
            <a:r>
              <a:rPr lang="ru-RU" dirty="0" err="1"/>
              <a:t>kuidas</a:t>
            </a:r>
            <a:r>
              <a:rPr lang="ru-RU" dirty="0"/>
              <a:t> </a:t>
            </a:r>
            <a:r>
              <a:rPr lang="ru-RU" dirty="0" err="1"/>
              <a:t>käituda</a:t>
            </a:r>
            <a:r>
              <a:rPr lang="ru-RU" dirty="0"/>
              <a:t>, </a:t>
            </a:r>
            <a:r>
              <a:rPr lang="ru-RU" dirty="0" err="1"/>
              <a:t>küsis</a:t>
            </a:r>
            <a:r>
              <a:rPr lang="ru-RU" dirty="0"/>
              <a:t> </a:t>
            </a:r>
            <a:r>
              <a:rPr lang="ru-RU" dirty="0" err="1"/>
              <a:t>ta</a:t>
            </a:r>
            <a:r>
              <a:rPr lang="ru-RU" dirty="0"/>
              <a:t>: "</a:t>
            </a:r>
            <a:r>
              <a:rPr lang="ru-RU" dirty="0" err="1"/>
              <a:t>Kas</a:t>
            </a:r>
            <a:r>
              <a:rPr lang="ru-RU" dirty="0"/>
              <a:t> </a:t>
            </a:r>
            <a:r>
              <a:rPr lang="ru-RU" dirty="0" err="1"/>
              <a:t>keegi</a:t>
            </a:r>
            <a:r>
              <a:rPr lang="ru-RU" dirty="0"/>
              <a:t> </a:t>
            </a:r>
            <a:r>
              <a:rPr lang="ru-RU" dirty="0" err="1"/>
              <a:t>teine</a:t>
            </a:r>
            <a:r>
              <a:rPr lang="ru-RU" dirty="0"/>
              <a:t> ​​</a:t>
            </a:r>
            <a:r>
              <a:rPr lang="ru-RU" dirty="0" err="1"/>
              <a:t>teab</a:t>
            </a:r>
            <a:r>
              <a:rPr lang="ru-RU" dirty="0"/>
              <a:t>?" </a:t>
            </a:r>
            <a:r>
              <a:rPr lang="ru-RU" dirty="0" err="1"/>
              <a:t>ja</a:t>
            </a:r>
            <a:r>
              <a:rPr lang="ru-RU" dirty="0"/>
              <a:t> </a:t>
            </a:r>
            <a:r>
              <a:rPr lang="ru-RU" dirty="0" err="1"/>
              <a:t>ma</a:t>
            </a:r>
            <a:r>
              <a:rPr lang="ru-RU" dirty="0"/>
              <a:t> </a:t>
            </a:r>
            <a:r>
              <a:rPr lang="ru-RU" dirty="0" err="1"/>
              <a:t>vastasin</a:t>
            </a:r>
            <a:r>
              <a:rPr lang="ru-RU" dirty="0"/>
              <a:t> </a:t>
            </a:r>
            <a:r>
              <a:rPr lang="ru-RU" dirty="0" err="1"/>
              <a:t>uhkelt</a:t>
            </a:r>
            <a:r>
              <a:rPr lang="ru-RU" dirty="0"/>
              <a:t>: "</a:t>
            </a:r>
            <a:r>
              <a:rPr lang="ru-RU" dirty="0" err="1"/>
              <a:t>Ei</a:t>
            </a:r>
            <a:r>
              <a:rPr lang="ru-RU" dirty="0"/>
              <a:t>," </a:t>
            </a:r>
            <a:r>
              <a:rPr lang="ru-RU" dirty="0" err="1"/>
              <a:t>mis</a:t>
            </a:r>
            <a:r>
              <a:rPr lang="ru-RU" dirty="0"/>
              <a:t> </a:t>
            </a:r>
            <a:r>
              <a:rPr lang="ru-RU" dirty="0" err="1"/>
              <a:t>andis</a:t>
            </a:r>
            <a:r>
              <a:rPr lang="ru-RU" dirty="0"/>
              <a:t> </a:t>
            </a:r>
            <a:r>
              <a:rPr lang="ru-RU" dirty="0" err="1"/>
              <a:t>mulle</a:t>
            </a:r>
            <a:r>
              <a:rPr lang="ru-RU" dirty="0"/>
              <a:t> </a:t>
            </a:r>
            <a:r>
              <a:rPr lang="ru-RU" dirty="0" err="1"/>
              <a:t>idee</a:t>
            </a:r>
            <a:r>
              <a:rPr lang="ru-RU" dirty="0"/>
              <a:t> </a:t>
            </a:r>
            <a:r>
              <a:rPr lang="ru-RU" dirty="0" err="1"/>
              <a:t>viia</a:t>
            </a:r>
            <a:r>
              <a:rPr lang="ru-RU" dirty="0"/>
              <a:t> </a:t>
            </a:r>
            <a:r>
              <a:rPr lang="ru-RU" dirty="0" err="1"/>
              <a:t>see</a:t>
            </a:r>
            <a:r>
              <a:rPr lang="ru-RU" dirty="0"/>
              <a:t> </a:t>
            </a:r>
            <a:r>
              <a:rPr lang="ru-RU" dirty="0" err="1"/>
              <a:t>haridusprogramm</a:t>
            </a:r>
            <a:r>
              <a:rPr lang="ru-RU" dirty="0"/>
              <a:t> </a:t>
            </a:r>
            <a:r>
              <a:rPr lang="ru-RU" dirty="0" err="1"/>
              <a:t>läbi</a:t>
            </a:r>
            <a:r>
              <a:rPr lang="ru-RU" dirty="0"/>
              <a:t> </a:t>
            </a:r>
            <a:r>
              <a:rPr lang="ru-RU" dirty="0" err="1"/>
              <a:t>eesti</a:t>
            </a:r>
            <a:r>
              <a:rPr lang="ru-RU" dirty="0"/>
              <a:t> </a:t>
            </a:r>
            <a:r>
              <a:rPr lang="ru-RU" dirty="0" err="1"/>
              <a:t>keeles</a:t>
            </a:r>
            <a:r>
              <a:rPr lang="ru-RU" dirty="0"/>
              <a:t>).</a:t>
            </a:r>
          </a:p>
        </p:txBody>
      </p:sp>
    </p:spTree>
    <p:extLst>
      <p:ext uri="{BB962C8B-B14F-4D97-AF65-F5344CB8AC3E}">
        <p14:creationId xmlns:p14="http://schemas.microsoft.com/office/powerpoint/2010/main" val="1079486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FE9A979-3580-4EB5-A94E-0806910946EF}"/>
              </a:ext>
            </a:extLst>
          </p:cNvPr>
          <p:cNvSpPr>
            <a:spLocks noChangeArrowheads="1"/>
          </p:cNvSpPr>
          <p:nvPr/>
        </p:nvSpPr>
        <p:spPr bwMode="auto">
          <a:xfrm>
            <a:off x="1494846" y="628758"/>
            <a:ext cx="767300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3 слайд</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важная информация</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не все эпилептики поятся световых вспышек или громкой музыки. лично я очень люблю аниме и концерты, что вы и можете увидеть на слайде (</a:t>
            </a:r>
            <a:r>
              <a:rPr kumimoji="0" lang="ru-RU" altLang="ru-RU" sz="1100" b="0" i="0" u="none" strike="noStrike" cap="none" normalizeH="0" baseline="0" dirty="0" err="1">
                <a:ln>
                  <a:noFill/>
                </a:ln>
                <a:solidFill>
                  <a:srgbClr val="000000"/>
                </a:solidFill>
                <a:effectLst/>
                <a:latin typeface="Google Sans Text"/>
              </a:rPr>
              <a:t>гифка</a:t>
            </a:r>
            <a:r>
              <a:rPr kumimoji="0" lang="ru-RU" altLang="ru-RU" sz="1100" b="0" i="0" u="none" strike="noStrike" cap="none" normalizeH="0" baseline="0" dirty="0">
                <a:ln>
                  <a:noFill/>
                </a:ln>
                <a:solidFill>
                  <a:srgbClr val="000000"/>
                </a:solidFill>
                <a:effectLst/>
                <a:latin typeface="Google Sans Text"/>
              </a:rPr>
              <a:t> с собакой танцующей и </a:t>
            </a:r>
            <a:r>
              <a:rPr kumimoji="0" lang="ru-RU" altLang="ru-RU" sz="1100" b="0" i="0" u="none" strike="noStrike" cap="none" normalizeH="0" baseline="0" dirty="0" err="1">
                <a:ln>
                  <a:noFill/>
                </a:ln>
                <a:solidFill>
                  <a:srgbClr val="000000"/>
                </a:solidFill>
                <a:effectLst/>
                <a:latin typeface="Google Sans Text"/>
              </a:rPr>
              <a:t>чот</a:t>
            </a:r>
            <a:r>
              <a:rPr kumimoji="0" lang="ru-RU" altLang="ru-RU" sz="1100" b="0" i="0" u="none" strike="noStrike" cap="none" normalizeH="0" baseline="0" dirty="0">
                <a:ln>
                  <a:noFill/>
                </a:ln>
                <a:solidFill>
                  <a:srgbClr val="000000"/>
                </a:solidFill>
                <a:effectLst/>
                <a:latin typeface="Google Sans Text"/>
              </a:rPr>
              <a:t> с аниме например </a:t>
            </a:r>
            <a:r>
              <a:rPr kumimoji="0" lang="ru-RU" altLang="ru-RU" sz="1100" b="0" i="0" u="none" strike="noStrike" cap="none" normalizeH="0" baseline="0" dirty="0" err="1">
                <a:ln>
                  <a:noFill/>
                </a:ln>
                <a:solidFill>
                  <a:srgbClr val="000000"/>
                </a:solidFill>
                <a:effectLst/>
                <a:latin typeface="Google Sans Text"/>
              </a:rPr>
              <a:t>магичка</a:t>
            </a:r>
            <a:r>
              <a:rPr kumimoji="0" lang="ru-RU" altLang="ru-RU" sz="1100" b="0" i="0" u="none" strike="noStrike" cap="none" normalizeH="0" baseline="0" dirty="0">
                <a:ln>
                  <a:noFill/>
                </a:ln>
                <a:solidFill>
                  <a:srgbClr val="000000"/>
                </a:solidFill>
                <a:effectLst/>
                <a:latin typeface="Google Sans Text"/>
              </a:rPr>
              <a:t>)</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у меня приступы провоцируются сильным уставанием (например пара недель плохого сна) поэтому </a:t>
            </a:r>
            <a:r>
              <a:rPr kumimoji="0" lang="ru-RU" altLang="ru-RU" sz="1100" b="0" i="0" u="none" strike="noStrike" cap="none" normalizeH="0" baseline="0" dirty="0" err="1">
                <a:ln>
                  <a:noFill/>
                </a:ln>
                <a:solidFill>
                  <a:srgbClr val="000000"/>
                </a:solidFill>
                <a:effectLst/>
                <a:latin typeface="Google Sans Text"/>
              </a:rPr>
              <a:t>ворк</a:t>
            </a:r>
            <a:r>
              <a:rPr kumimoji="0" lang="ru-RU" altLang="ru-RU" sz="1100" b="0" i="0" u="none" strike="noStrike" cap="none" normalizeH="0" baseline="0" dirty="0">
                <a:ln>
                  <a:noFill/>
                </a:ln>
                <a:solidFill>
                  <a:srgbClr val="000000"/>
                </a:solidFill>
                <a:effectLst/>
                <a:latin typeface="Google Sans Text"/>
              </a:rPr>
              <a:t> </a:t>
            </a:r>
            <a:r>
              <a:rPr kumimoji="0" lang="ru-RU" altLang="ru-RU" sz="1100" b="0" i="0" u="none" strike="noStrike" cap="none" normalizeH="0" baseline="0" dirty="0" err="1">
                <a:ln>
                  <a:noFill/>
                </a:ln>
                <a:solidFill>
                  <a:srgbClr val="000000"/>
                </a:solidFill>
                <a:effectLst/>
                <a:latin typeface="Google Sans Text"/>
              </a:rPr>
              <a:t>лайф</a:t>
            </a:r>
            <a:r>
              <a:rPr kumimoji="0" lang="ru-RU" altLang="ru-RU" sz="1100" b="0" i="0" u="none" strike="noStrike" cap="none" normalizeH="0" baseline="0" dirty="0">
                <a:ln>
                  <a:noFill/>
                </a:ln>
                <a:solidFill>
                  <a:srgbClr val="000000"/>
                </a:solidFill>
                <a:effectLst/>
                <a:latin typeface="Google Sans Text"/>
              </a:rPr>
              <a:t> баланс очень важен + надо пить таблетки</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6" name="Рисунок 5">
            <a:extLst>
              <a:ext uri="{FF2B5EF4-FFF2-40B4-BE49-F238E27FC236}">
                <a16:creationId xmlns:a16="http://schemas.microsoft.com/office/drawing/2014/main" id="{66F37D0A-82AA-4F58-993B-A0835B585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409" y="1852405"/>
            <a:ext cx="3810000" cy="2857500"/>
          </a:xfrm>
          <a:prstGeom prst="rect">
            <a:avLst/>
          </a:prstGeom>
        </p:spPr>
      </p:pic>
      <p:pic>
        <p:nvPicPr>
          <p:cNvPr id="8" name="Рисунок 7">
            <a:extLst>
              <a:ext uri="{FF2B5EF4-FFF2-40B4-BE49-F238E27FC236}">
                <a16:creationId xmlns:a16="http://schemas.microsoft.com/office/drawing/2014/main" id="{E49EC52D-31DD-46F5-9884-E29C3C5636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9592" y="1852405"/>
            <a:ext cx="4128923" cy="2324431"/>
          </a:xfrm>
          <a:prstGeom prst="rect">
            <a:avLst/>
          </a:prstGeom>
        </p:spPr>
      </p:pic>
      <p:pic>
        <p:nvPicPr>
          <p:cNvPr id="12" name="Рисунок 11">
            <a:extLst>
              <a:ext uri="{FF2B5EF4-FFF2-40B4-BE49-F238E27FC236}">
                <a16:creationId xmlns:a16="http://schemas.microsoft.com/office/drawing/2014/main" id="{124FF741-FFA4-433D-A820-F6E0A9D9B8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3275" y="3765191"/>
            <a:ext cx="4572000" cy="2571750"/>
          </a:xfrm>
          <a:prstGeom prst="rect">
            <a:avLst/>
          </a:prstGeom>
        </p:spPr>
      </p:pic>
      <p:pic>
        <p:nvPicPr>
          <p:cNvPr id="14" name="Рисунок 13">
            <a:extLst>
              <a:ext uri="{FF2B5EF4-FFF2-40B4-BE49-F238E27FC236}">
                <a16:creationId xmlns:a16="http://schemas.microsoft.com/office/drawing/2014/main" id="{8C63D367-04CD-49A8-A3C4-27367C014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3909" y="3971262"/>
            <a:ext cx="2877597" cy="2485197"/>
          </a:xfrm>
          <a:prstGeom prst="rect">
            <a:avLst/>
          </a:prstGeom>
        </p:spPr>
      </p:pic>
    </p:spTree>
    <p:extLst>
      <p:ext uri="{BB962C8B-B14F-4D97-AF65-F5344CB8AC3E}">
        <p14:creationId xmlns:p14="http://schemas.microsoft.com/office/powerpoint/2010/main" val="1509725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6D66754-048D-4BBC-BA32-768477B3DFD8}"/>
              </a:ext>
            </a:extLst>
          </p:cNvPr>
          <p:cNvSpPr>
            <a:spLocks noChangeArrowheads="1"/>
          </p:cNvSpPr>
          <p:nvPr/>
        </p:nvSpPr>
        <p:spPr bwMode="auto">
          <a:xfrm>
            <a:off x="1892411" y="4700743"/>
            <a:ext cx="8277308"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посмотрите на эту </a:t>
            </a:r>
            <a:r>
              <a:rPr kumimoji="0" lang="ru-RU" altLang="ru-RU" sz="1100" b="0" i="0" u="none" strike="noStrike" cap="none" normalizeH="0" baseline="0" dirty="0" err="1">
                <a:ln>
                  <a:noFill/>
                </a:ln>
                <a:solidFill>
                  <a:srgbClr val="000000"/>
                </a:solidFill>
                <a:effectLst/>
                <a:latin typeface="Google Sans Text"/>
              </a:rPr>
              <a:t>фотограцию</a:t>
            </a:r>
            <a:r>
              <a:rPr kumimoji="0" lang="ru-RU" altLang="ru-RU" sz="1100" b="0" i="0" u="none" strike="noStrike" cap="none" normalizeH="0" baseline="0" dirty="0">
                <a:ln>
                  <a:noFill/>
                </a:ln>
                <a:solidFill>
                  <a:srgbClr val="000000"/>
                </a:solidFill>
                <a:effectLst/>
                <a:latin typeface="Google Sans Text"/>
              </a:rPr>
              <a:t> </a:t>
            </a:r>
            <a:r>
              <a:rPr kumimoji="0" lang="ru-RU" altLang="ru-RU" sz="1100" b="0" i="0" u="none" strike="noStrike" cap="none" normalizeH="0" baseline="0" dirty="0" err="1">
                <a:ln>
                  <a:noFill/>
                </a:ln>
                <a:solidFill>
                  <a:srgbClr val="000000"/>
                </a:solidFill>
                <a:effectLst/>
                <a:latin typeface="Google Sans Text"/>
              </a:rPr>
              <a:t>видити</a:t>
            </a:r>
            <a:r>
              <a:rPr kumimoji="0" lang="ru-RU" altLang="ru-RU" sz="1100" b="0" i="0" u="none" strike="noStrike" cap="none" normalizeH="0" baseline="0" dirty="0">
                <a:ln>
                  <a:noFill/>
                </a:ln>
                <a:solidFill>
                  <a:srgbClr val="000000"/>
                </a:solidFill>
                <a:effectLst/>
                <a:latin typeface="Google Sans Text"/>
              </a:rPr>
              <a:t> ли вы на ней что-то необычное?</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необычного ничего на ней нет и это самое главное, потому что через 10 минут после я уже лежал на земле и дрыгался пока прохожие вызывали скорую помощь</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Приступ может случиться в любом месте в любое время суток (в этот день приступ у меня случился дважды, один раз днём и один раз ночью)</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6" name="Рисунок 5">
            <a:extLst>
              <a:ext uri="{FF2B5EF4-FFF2-40B4-BE49-F238E27FC236}">
                <a16:creationId xmlns:a16="http://schemas.microsoft.com/office/drawing/2014/main" id="{9E560A4C-CC57-42DF-B784-3B1674BB6E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2944" y="288235"/>
            <a:ext cx="6017150" cy="4011433"/>
          </a:xfrm>
          <a:prstGeom prst="rect">
            <a:avLst/>
          </a:prstGeom>
        </p:spPr>
      </p:pic>
    </p:spTree>
    <p:extLst>
      <p:ext uri="{BB962C8B-B14F-4D97-AF65-F5344CB8AC3E}">
        <p14:creationId xmlns:p14="http://schemas.microsoft.com/office/powerpoint/2010/main" val="3175907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73A42FC-AE1A-4FE1-89AA-32AFBBFB6681}"/>
              </a:ext>
            </a:extLst>
          </p:cNvPr>
          <p:cNvSpPr>
            <a:spLocks noChangeArrowheads="1"/>
          </p:cNvSpPr>
          <p:nvPr/>
        </p:nvSpPr>
        <p:spPr bwMode="auto">
          <a:xfrm>
            <a:off x="2576223" y="1989484"/>
            <a:ext cx="688583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что же делать?</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самое главное понять - после начала приступа вы никак не можете помочь человеку из него выбраться. единственное что вы можете это обезопасить его самого. отодвинуть от предметов об которые он может повредить себя (или убрать эти предметы подальше от него)</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существует миф что нужно засунуть ложку в рот чтобы он не проглотил язык или просто </a:t>
            </a:r>
            <a:r>
              <a:rPr kumimoji="0" lang="ru-RU" altLang="ru-RU" sz="1100" b="0" i="0" u="none" strike="noStrike" cap="none" normalizeH="0" baseline="0" dirty="0" err="1">
                <a:ln>
                  <a:noFill/>
                </a:ln>
                <a:solidFill>
                  <a:srgbClr val="000000"/>
                </a:solidFill>
                <a:effectLst/>
                <a:latin typeface="Google Sans Text"/>
              </a:rPr>
              <a:t>достатать</a:t>
            </a:r>
            <a:r>
              <a:rPr kumimoji="0" lang="ru-RU" altLang="ru-RU" sz="1100" b="0" i="0" u="none" strike="noStrike" cap="none" normalizeH="0" baseline="0" dirty="0">
                <a:ln>
                  <a:noFill/>
                </a:ln>
                <a:solidFill>
                  <a:srgbClr val="000000"/>
                </a:solidFill>
                <a:effectLst/>
                <a:latin typeface="Google Sans Text"/>
              </a:rPr>
              <a:t> язык наружу. ЭТОГО ДЕЛАТЬ НИ В КОЕМ СЛУЧАЕ НЕЛЬЗЯ. всё что вы засунете в рот эпилептику войдёт в схватку с его челюстью и зубами, по итогу это "что-то" (пальцы или ложка) будет либо откушено либо сломает зубы. единственное что вы можете сделать это попробовать подложить под голову что-то мягкое и при сильном слюноотделении повернуть голову на бок (возможно с этим возникнут проблемы потому что мышцы шеи тоже сильно напряжены)</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дальше вы только ждёте, если активная фаза с судорогами длится дольше 5 минут то надо вызывать скорую, если меньше то смысла нет</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6182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45494FB-A7F4-4DC5-B772-6667129DF1F5}"/>
              </a:ext>
            </a:extLst>
          </p:cNvPr>
          <p:cNvSpPr>
            <a:spLocks noChangeArrowheads="1"/>
          </p:cNvSpPr>
          <p:nvPr/>
        </p:nvSpPr>
        <p:spPr bwMode="auto">
          <a:xfrm>
            <a:off x="1765189" y="2799465"/>
            <a:ext cx="798311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a:ln>
                  <a:noFill/>
                </a:ln>
                <a:solidFill>
                  <a:srgbClr val="000000"/>
                </a:solidFill>
                <a:effectLst/>
                <a:latin typeface="Google Sans Text"/>
              </a:rPr>
              <a:t>после окончания судорог</a:t>
            </a:r>
            <a:endParaRPr kumimoji="0" lang="ru-RU" altLang="ru-RU"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a:ln>
                  <a:noFill/>
                </a:ln>
                <a:solidFill>
                  <a:srgbClr val="000000"/>
                </a:solidFill>
                <a:effectLst/>
                <a:latin typeface="Google Sans Text"/>
              </a:rPr>
              <a:t>после приступа надо привесчти в человека в чувства. вероятно вам раз 10 придётся рассказать что произошло, потому что мозг очень сильно перегружен и кратковременная память работает плохо + говорить и думать следующие сутки после приступа очень сложно</a:t>
            </a:r>
            <a:endParaRPr kumimoji="0" lang="ru-RU" altLang="ru-RU"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a:ln>
                  <a:noFill/>
                </a:ln>
                <a:solidFill>
                  <a:srgbClr val="000000"/>
                </a:solidFill>
                <a:effectLst/>
                <a:latin typeface="Google Sans Text"/>
              </a:rPr>
              <a:t>дальше если есть возможность то нужно дать человеку отоспаться никуда не уходя, а если нет, то проводить его до дома и связаться с близкими</a:t>
            </a:r>
            <a:endParaRPr kumimoji="0" lang="ru-RU" altLang="ru-RU"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1538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E09F394-E6FE-42E5-A247-BD61D0CC4610}"/>
              </a:ext>
            </a:extLst>
          </p:cNvPr>
          <p:cNvSpPr>
            <a:spLocks noChangeArrowheads="1"/>
          </p:cNvSpPr>
          <p:nvPr/>
        </p:nvSpPr>
        <p:spPr bwMode="auto">
          <a:xfrm>
            <a:off x="3888188" y="3298195"/>
            <a:ext cx="574879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dirty="0">
                <a:ln>
                  <a:noFill/>
                </a:ln>
                <a:solidFill>
                  <a:srgbClr val="000000"/>
                </a:solidFill>
                <a:effectLst/>
                <a:latin typeface="Google Sans Text"/>
              </a:rPr>
              <a:t>спасибо за внимание, вот словарик</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604879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В цвета ФВС.potx" id="{88C9FEC3-A674-4F04-9DC4-C4C0D0AD526C}" vid="{03EB4205-A41F-4ECA-9DBD-8BC84CB372B4}"/>
    </a:ext>
  </a:extLst>
</a:theme>
</file>

<file path=docProps/app.xml><?xml version="1.0" encoding="utf-8"?>
<Properties xmlns="http://schemas.openxmlformats.org/officeDocument/2006/extended-properties" xmlns:vt="http://schemas.openxmlformats.org/officeDocument/2006/docPropsVTypes">
  <Template>В цвета ФВС</Template>
  <TotalTime>27</TotalTime>
  <Words>652</Words>
  <Application>Microsoft Office PowerPoint</Application>
  <PresentationFormat>Широкоэкранный</PresentationFormat>
  <Paragraphs>35</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Calibri</vt:lpstr>
      <vt:lpstr>Calibri Light</vt:lpstr>
      <vt:lpstr>Comic Sans MS</vt:lpstr>
      <vt:lpstr>Google Sans Text</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4</cp:revision>
  <dcterms:created xsi:type="dcterms:W3CDTF">2026-09-27T15:10:41Z</dcterms:created>
  <dcterms:modified xsi:type="dcterms:W3CDTF">2026-09-27T15:43:38Z</dcterms:modified>
</cp:coreProperties>
</file>