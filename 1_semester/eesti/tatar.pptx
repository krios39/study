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3" r:id="rId3"/>
    <p:sldId id="264" r:id="rId4"/>
    <p:sldId id="265" r:id="rId5"/>
    <p:sldId id="272" r:id="rId6"/>
    <p:sldId id="259" r:id="rId7"/>
    <p:sldId id="266" r:id="rId8"/>
    <p:sldId id="267" r:id="rId9"/>
    <p:sldId id="268" r:id="rId10"/>
    <p:sldId id="273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09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3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293" y="6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463A576F-31A8-4161-A102-BDDBD0CB1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741D92-7750-460E-B31B-653027BC6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D58C1-116B-4911-BACB-E776802E69A8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10EE9E-74E4-4781-8048-E1A4160226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B4AFAA-7541-4459-B472-6B3F33A577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7DB10-9416-482A-B41A-C8D34EB588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5748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90DB8-F1C2-4AEC-B6B6-B0B81329753C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BF27C-2E26-4D2A-9E7A-AE45ABF0F8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531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C5B93-B3DB-4B8C-ACA8-156A3B4D88D7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12">
            <a:extLst>
              <a:ext uri="{FF2B5EF4-FFF2-40B4-BE49-F238E27FC236}">
                <a16:creationId xmlns:a16="http://schemas.microsoft.com/office/drawing/2014/main" id="{DBD32204-878E-439A-8D1B-EE58E1E61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823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C50E7D-3C7B-4854-838F-264B22310E90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FB93A1-5BB8-45D2-A2BC-EC42AC8415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082DF8-5434-4695-BF9F-2F4A125B04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11" name="Номер слайда 12">
            <a:extLst>
              <a:ext uri="{FF2B5EF4-FFF2-40B4-BE49-F238E27FC236}">
                <a16:creationId xmlns:a16="http://schemas.microsoft.com/office/drawing/2014/main" id="{627A505C-941A-4649-9BFE-6D49516B1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42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8C2CBC-1C92-4FF2-9C3F-184BE75F4BE1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0AB1CC-ED34-4549-9946-71D4B95ED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422E07-9587-4DFC-8FAD-AAA169F1C2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9" name="Номер слайда 12">
            <a:extLst>
              <a:ext uri="{FF2B5EF4-FFF2-40B4-BE49-F238E27FC236}">
                <a16:creationId xmlns:a16="http://schemas.microsoft.com/office/drawing/2014/main" id="{5B4CB7AD-1E25-43F7-977E-5F1B84BEE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924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B61362-151B-4278-A82C-C0E27E6C9E60}" type="datetime1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88132E-AC7D-4D16-AB27-E767F80D6D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3D8FCC9-749A-47A9-811F-AAE14707DB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10" name="Номер слайда 12">
            <a:extLst>
              <a:ext uri="{FF2B5EF4-FFF2-40B4-BE49-F238E27FC236}">
                <a16:creationId xmlns:a16="http://schemas.microsoft.com/office/drawing/2014/main" id="{3A5101A6-EF0E-4300-B806-94E6BD616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4285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CD2392-3A27-4678-BA54-D4F61274681A}" type="datetime1">
              <a:rPr lang="ru-RU" smtClean="0"/>
              <a:t>28.10.2026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600698-F847-4D26-BC61-AD0A2A0D4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3F8D2C-35E4-49E6-9C96-A2721AF606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12" name="Номер слайда 12">
            <a:extLst>
              <a:ext uri="{FF2B5EF4-FFF2-40B4-BE49-F238E27FC236}">
                <a16:creationId xmlns:a16="http://schemas.microsoft.com/office/drawing/2014/main" id="{A7A509AE-8CFF-45BE-BB42-4115C5B7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638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892953-B784-4ED0-8CE3-A801EE79C985}" type="datetime1">
              <a:rPr lang="ru-RU" smtClean="0"/>
              <a:t>28.10.2026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DCFB30-89DE-4159-8C80-BEBF745A46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796D94-F75B-47AD-B12D-A80F68BDE8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8" name="Номер слайда 12">
            <a:extLst>
              <a:ext uri="{FF2B5EF4-FFF2-40B4-BE49-F238E27FC236}">
                <a16:creationId xmlns:a16="http://schemas.microsoft.com/office/drawing/2014/main" id="{018C3F88-AE2E-42DF-8DA7-425A0B9C58CF}"/>
              </a:ext>
            </a:extLst>
          </p:cNvPr>
          <p:cNvSpPr txBox="1">
            <a:spLocks/>
          </p:cNvSpPr>
          <p:nvPr userDrawn="1"/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8FD0B4-C8B5-49FA-9069-59F321B807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408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DFD5F3-E383-4B9A-8629-E520B1E6A3A7}" type="datetime1">
              <a:rPr lang="ru-RU" smtClean="0"/>
              <a:t>28.10.2026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7CEC24-6144-41C8-9DED-2C7DD3554C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67B8B5-EC04-4821-884F-CDC365AE24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7" name="Номер слайда 12">
            <a:extLst>
              <a:ext uri="{FF2B5EF4-FFF2-40B4-BE49-F238E27FC236}">
                <a16:creationId xmlns:a16="http://schemas.microsoft.com/office/drawing/2014/main" id="{4558F23B-0B0A-4523-9EC1-25F871BB4885}"/>
              </a:ext>
            </a:extLst>
          </p:cNvPr>
          <p:cNvSpPr txBox="1">
            <a:spLocks/>
          </p:cNvSpPr>
          <p:nvPr userDrawn="1"/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8FD0B4-C8B5-49FA-9069-59F321B807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387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A55F13-F739-4647-84EC-F95AD8A9BCD1}" type="datetime1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3D3A7D-190C-4EC7-8B64-E58D90395B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E6B739-8EAE-46DC-8B14-FEE7D151A5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10" name="Номер слайда 12">
            <a:extLst>
              <a:ext uri="{FF2B5EF4-FFF2-40B4-BE49-F238E27FC236}">
                <a16:creationId xmlns:a16="http://schemas.microsoft.com/office/drawing/2014/main" id="{0EAE3A75-705C-46AE-9646-7E511CFB8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902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06A1C7-71D7-4DF1-A9A8-B02B2CB82B94}" type="datetime1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FD1C4C-4BE0-4C19-9883-56D4448CD2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45B953-807B-47AC-8089-C0AE1303BA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11" name="Номер слайда 12">
            <a:extLst>
              <a:ext uri="{FF2B5EF4-FFF2-40B4-BE49-F238E27FC236}">
                <a16:creationId xmlns:a16="http://schemas.microsoft.com/office/drawing/2014/main" id="{60CF2950-D330-4D71-9CEF-5737A18AA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257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35D90B-4D30-4A5D-9C1D-43DCAA75DFC0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BBA454-1665-41D9-B7EA-4C215A28E6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5B768EC-F7CB-4CAF-BE30-95458BE3C8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9" name="Номер слайда 12">
            <a:extLst>
              <a:ext uri="{FF2B5EF4-FFF2-40B4-BE49-F238E27FC236}">
                <a16:creationId xmlns:a16="http://schemas.microsoft.com/office/drawing/2014/main" id="{1DA993CD-4E1D-4698-BB56-FE14C8975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063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A8B38C-741C-4509-8686-93ED710282E0}" type="datetime1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9B15D2-EE9F-4E0C-8322-1E6DDE5C65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57133" y="6532842"/>
            <a:ext cx="534867" cy="31919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9F2FF1-3058-4B7D-B5D7-91EA409BF2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3566" y="6213647"/>
            <a:ext cx="534867" cy="319195"/>
          </a:xfrm>
          <a:prstGeom prst="rect">
            <a:avLst/>
          </a:prstGeom>
        </p:spPr>
      </p:pic>
      <p:sp>
        <p:nvSpPr>
          <p:cNvPr id="9" name="Номер слайда 12">
            <a:extLst>
              <a:ext uri="{FF2B5EF4-FFF2-40B4-BE49-F238E27FC236}">
                <a16:creationId xmlns:a16="http://schemas.microsoft.com/office/drawing/2014/main" id="{5A319A89-81A2-4044-80BD-528AB932367E}"/>
              </a:ext>
            </a:extLst>
          </p:cNvPr>
          <p:cNvSpPr txBox="1">
            <a:spLocks/>
          </p:cNvSpPr>
          <p:nvPr userDrawn="1"/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8FD0B4-C8B5-49FA-9069-59F321B807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56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9B6647-816B-4AB1-9F0E-1DF0BBCEAAC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81937" y="0"/>
            <a:ext cx="3088426" cy="46585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E39A52-64BC-4244-9060-C5387A0EF87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7" y="95110"/>
            <a:ext cx="2727297" cy="37074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A7F3045-258A-4BB1-9555-7B98A4A168F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657133" y="6378362"/>
            <a:ext cx="534867" cy="31919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CFA4191-011A-4845-8EB5-F6D569B0B711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657132" y="6059167"/>
            <a:ext cx="534867" cy="319195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7427B15-C4E8-46CB-ACFC-0F2A8A387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78362"/>
            <a:ext cx="4520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FD0B4-C8B5-49FA-9069-59F321B807B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285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3B179F-B69F-4509-91D7-608718A37289}"/>
              </a:ext>
            </a:extLst>
          </p:cNvPr>
          <p:cNvSpPr txBox="1"/>
          <p:nvPr/>
        </p:nvSpPr>
        <p:spPr>
          <a:xfrm>
            <a:off x="2024932" y="1908314"/>
            <a:ext cx="814213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 err="1">
                <a:latin typeface="Comic Sans MS" panose="030F0702030302020204" pitchFamily="66" charset="0"/>
              </a:rPr>
              <a:t>Veel</a:t>
            </a:r>
            <a:r>
              <a:rPr lang="en-US" sz="6600" dirty="0">
                <a:latin typeface="Comic Sans MS" panose="030F0702030302020204" pitchFamily="66" charset="0"/>
              </a:rPr>
              <a:t> </a:t>
            </a:r>
            <a:r>
              <a:rPr lang="en-US" sz="6600" dirty="0" err="1">
                <a:latin typeface="Comic Sans MS" panose="030F0702030302020204" pitchFamily="66" charset="0"/>
              </a:rPr>
              <a:t>üks</a:t>
            </a:r>
            <a:r>
              <a:rPr lang="en-US" sz="6600" dirty="0">
                <a:latin typeface="Comic Sans MS" panose="030F0702030302020204" pitchFamily="66" charset="0"/>
              </a:rPr>
              <a:t> </a:t>
            </a:r>
            <a:r>
              <a:rPr lang="en-US" sz="6600" dirty="0" err="1">
                <a:latin typeface="Comic Sans MS" panose="030F0702030302020204" pitchFamily="66" charset="0"/>
              </a:rPr>
              <a:t>huvitav</a:t>
            </a:r>
            <a:r>
              <a:rPr lang="en-US" sz="6600" dirty="0">
                <a:latin typeface="Comic Sans MS" panose="030F0702030302020204" pitchFamily="66" charset="0"/>
              </a:rPr>
              <a:t> </a:t>
            </a:r>
            <a:r>
              <a:rPr lang="en-US" sz="6600" dirty="0" err="1">
                <a:latin typeface="Comic Sans MS" panose="030F0702030302020204" pitchFamily="66" charset="0"/>
              </a:rPr>
              <a:t>haridusprogramm</a:t>
            </a:r>
            <a:endParaRPr lang="en-US" sz="6600" dirty="0"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F051D0-D213-4E30-8EF6-F301150CA46C}"/>
              </a:ext>
            </a:extLst>
          </p:cNvPr>
          <p:cNvSpPr txBox="1"/>
          <p:nvPr/>
        </p:nvSpPr>
        <p:spPr>
          <a:xfrm>
            <a:off x="2024931" y="4031972"/>
            <a:ext cx="8142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Comic Sans MS" panose="030F0702030302020204" pitchFamily="66" charset="0"/>
              </a:rPr>
              <a:t>(</a:t>
            </a:r>
            <a:r>
              <a:rPr lang="en-US" sz="1600" dirty="0" err="1">
                <a:latin typeface="Comic Sans MS" panose="030F0702030302020204" pitchFamily="66" charset="0"/>
              </a:rPr>
              <a:t>valmistas</a:t>
            </a:r>
            <a:r>
              <a:rPr lang="en-US" sz="1600" dirty="0">
                <a:latin typeface="Comic Sans MS" panose="030F0702030302020204" pitchFamily="66" charset="0"/>
              </a:rPr>
              <a:t> Ruslan)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75F60-C069-4ED4-9FB5-2F3B6F09AA35}"/>
              </a:ext>
            </a:extLst>
          </p:cNvPr>
          <p:cNvSpPr txBox="1"/>
          <p:nvPr/>
        </p:nvSpPr>
        <p:spPr>
          <a:xfrm>
            <a:off x="4396076" y="4439017"/>
            <a:ext cx="33998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 err="1">
                <a:latin typeface="Comic Sans MS" panose="030F0702030302020204" pitchFamily="66" charset="0"/>
              </a:rPr>
              <a:t>üks</a:t>
            </a:r>
            <a:r>
              <a:rPr lang="ru-RU" sz="2400" dirty="0">
                <a:latin typeface="Comic Sans MS" panose="030F0702030302020204" pitchFamily="66" charset="0"/>
              </a:rPr>
              <a:t> </a:t>
            </a:r>
            <a:r>
              <a:rPr lang="ru-RU" sz="2400" dirty="0" err="1">
                <a:latin typeface="Comic Sans MS" panose="030F0702030302020204" pitchFamily="66" charset="0"/>
              </a:rPr>
              <a:t>lühike</a:t>
            </a:r>
            <a:endParaRPr lang="en-US" sz="2400" dirty="0">
              <a:latin typeface="Comic Sans MS" panose="030F0702030302020204" pitchFamily="66" charset="0"/>
            </a:endParaRPr>
          </a:p>
          <a:p>
            <a:pPr algn="ctr"/>
            <a:r>
              <a:rPr lang="en-US" sz="2400" dirty="0">
                <a:solidFill>
                  <a:srgbClr val="B2B2B2"/>
                </a:solidFill>
                <a:latin typeface="Comic Sans MS" panose="030F0702030302020204" pitchFamily="66" charset="0"/>
              </a:rPr>
              <a:t>(shorter one)</a:t>
            </a:r>
            <a:endParaRPr lang="ru-RU" sz="24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36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F15F7F-38D3-403B-895D-C260CFDF9727}"/>
              </a:ext>
            </a:extLst>
          </p:cNvPr>
          <p:cNvSpPr txBox="1"/>
          <p:nvPr/>
        </p:nvSpPr>
        <p:spPr>
          <a:xfrm>
            <a:off x="3048663" y="115125"/>
            <a:ext cx="6094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Nagu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mäletate</a:t>
            </a:r>
            <a:r>
              <a:rPr lang="ru-RU" sz="2800" dirty="0">
                <a:latin typeface="Comic Sans MS" panose="030F0702030302020204" pitchFamily="66" charset="0"/>
              </a:rPr>
              <a:t>, </a:t>
            </a:r>
            <a:r>
              <a:rPr lang="ru-RU" sz="2800" dirty="0" err="1">
                <a:latin typeface="Comic Sans MS" panose="030F0702030302020204" pitchFamily="66" charset="0"/>
              </a:rPr>
              <a:t>rääkisime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eelmises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tunnis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tatar</a:t>
            </a:r>
            <a:endParaRPr lang="ru-RU" sz="2800" dirty="0">
              <a:latin typeface="Comic Sans MS" panose="030F0702030302020204" pitchFamily="66" charset="0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26E9CF9-6C75-410E-8D25-FC361EC96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2</a:t>
            </a:fld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CD327-96E2-497A-81E0-E8B7551BBB97}"/>
              </a:ext>
            </a:extLst>
          </p:cNvPr>
          <p:cNvSpPr txBox="1"/>
          <p:nvPr/>
        </p:nvSpPr>
        <p:spPr>
          <a:xfrm>
            <a:off x="3105648" y="968525"/>
            <a:ext cx="6094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B2B2B2"/>
                </a:solidFill>
                <a:latin typeface="Comic Sans MS" panose="030F0702030302020204" pitchFamily="66" charset="0"/>
              </a:rPr>
              <a:t>As you remember, in the previous lesson we talked about buckwheat</a:t>
            </a:r>
            <a:endParaRPr lang="ru-RU" sz="20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991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F15F7F-38D3-403B-895D-C260CFDF9727}"/>
              </a:ext>
            </a:extLst>
          </p:cNvPr>
          <p:cNvSpPr txBox="1"/>
          <p:nvPr/>
        </p:nvSpPr>
        <p:spPr>
          <a:xfrm>
            <a:off x="3048663" y="115125"/>
            <a:ext cx="6094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Nagu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mäletate</a:t>
            </a:r>
            <a:r>
              <a:rPr lang="ru-RU" sz="2800" dirty="0">
                <a:latin typeface="Comic Sans MS" panose="030F0702030302020204" pitchFamily="66" charset="0"/>
              </a:rPr>
              <a:t>, </a:t>
            </a:r>
            <a:r>
              <a:rPr lang="ru-RU" sz="2800" dirty="0" err="1">
                <a:latin typeface="Comic Sans MS" panose="030F0702030302020204" pitchFamily="66" charset="0"/>
              </a:rPr>
              <a:t>rääkisime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eelmises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tunnis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tatar</a:t>
            </a:r>
            <a:endParaRPr lang="ru-RU" sz="2800" dirty="0">
              <a:latin typeface="Comic Sans MS" panose="030F0702030302020204" pitchFamily="66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49569D-5854-4B11-B844-34F2E3630E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51" y="1697942"/>
            <a:ext cx="4401015" cy="4401015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26E9CF9-6C75-410E-8D25-FC361EC96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3</a:t>
            </a:fld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1C2DE-F71C-4399-B28B-80542488D2DC}"/>
              </a:ext>
            </a:extLst>
          </p:cNvPr>
          <p:cNvSpPr txBox="1"/>
          <p:nvPr/>
        </p:nvSpPr>
        <p:spPr>
          <a:xfrm>
            <a:off x="2848557" y="6150673"/>
            <a:ext cx="117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T</a:t>
            </a:r>
            <a:r>
              <a:rPr lang="ru-RU" dirty="0" err="1">
                <a:latin typeface="Comic Sans MS" panose="030F0702030302020204" pitchFamily="66" charset="0"/>
              </a:rPr>
              <a:t>oit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078E5-AB81-4AB9-8B00-05569073EFB2}"/>
              </a:ext>
            </a:extLst>
          </p:cNvPr>
          <p:cNvSpPr txBox="1"/>
          <p:nvPr/>
        </p:nvSpPr>
        <p:spPr>
          <a:xfrm>
            <a:off x="2848557" y="6468289"/>
            <a:ext cx="1174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B2B2B2"/>
                </a:solidFill>
                <a:latin typeface="Comic Sans MS" panose="030F0702030302020204" pitchFamily="66" charset="0"/>
              </a:rPr>
              <a:t>food</a:t>
            </a:r>
            <a:endParaRPr lang="ru-RU" sz="16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CD327-96E2-497A-81E0-E8B7551BBB97}"/>
              </a:ext>
            </a:extLst>
          </p:cNvPr>
          <p:cNvSpPr txBox="1"/>
          <p:nvPr/>
        </p:nvSpPr>
        <p:spPr>
          <a:xfrm>
            <a:off x="3105648" y="968525"/>
            <a:ext cx="6094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B2B2B2"/>
                </a:solidFill>
                <a:latin typeface="Comic Sans MS" panose="030F0702030302020204" pitchFamily="66" charset="0"/>
              </a:rPr>
              <a:t>As you remember, in the previous lesson we talked about buckwheat</a:t>
            </a:r>
            <a:endParaRPr lang="ru-RU" sz="20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7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F15F7F-38D3-403B-895D-C260CFDF9727}"/>
              </a:ext>
            </a:extLst>
          </p:cNvPr>
          <p:cNvSpPr txBox="1"/>
          <p:nvPr/>
        </p:nvSpPr>
        <p:spPr>
          <a:xfrm>
            <a:off x="3048663" y="115125"/>
            <a:ext cx="6094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Nagu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mäletate</a:t>
            </a:r>
            <a:r>
              <a:rPr lang="ru-RU" sz="2800" dirty="0">
                <a:latin typeface="Comic Sans MS" panose="030F0702030302020204" pitchFamily="66" charset="0"/>
              </a:rPr>
              <a:t>, </a:t>
            </a:r>
            <a:r>
              <a:rPr lang="ru-RU" sz="2800" dirty="0" err="1">
                <a:latin typeface="Comic Sans MS" panose="030F0702030302020204" pitchFamily="66" charset="0"/>
              </a:rPr>
              <a:t>rääkisime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eelmises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tunnis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tatar</a:t>
            </a:r>
            <a:endParaRPr lang="ru-RU" sz="2800" dirty="0">
              <a:latin typeface="Comic Sans MS" panose="030F0702030302020204" pitchFamily="66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D2C77C-2E54-40EB-9B49-0B41B00686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294" y="2039639"/>
            <a:ext cx="4573761" cy="391961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49569D-5854-4B11-B844-34F2E3630E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51" y="1697942"/>
            <a:ext cx="4401015" cy="4401015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26E9CF9-6C75-410E-8D25-FC361EC96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4</a:t>
            </a:fld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1C2DE-F71C-4399-B28B-80542488D2DC}"/>
              </a:ext>
            </a:extLst>
          </p:cNvPr>
          <p:cNvSpPr txBox="1"/>
          <p:nvPr/>
        </p:nvSpPr>
        <p:spPr>
          <a:xfrm>
            <a:off x="2848557" y="6150673"/>
            <a:ext cx="117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T</a:t>
            </a:r>
            <a:r>
              <a:rPr lang="ru-RU" dirty="0" err="1">
                <a:latin typeface="Comic Sans MS" panose="030F0702030302020204" pitchFamily="66" charset="0"/>
              </a:rPr>
              <a:t>oit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E1B51-98EC-4F42-B2B0-FF86CFEF8CE1}"/>
              </a:ext>
            </a:extLst>
          </p:cNvPr>
          <p:cNvSpPr txBox="1"/>
          <p:nvPr/>
        </p:nvSpPr>
        <p:spPr>
          <a:xfrm>
            <a:off x="7291346" y="6098957"/>
            <a:ext cx="3321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R</a:t>
            </a:r>
            <a:r>
              <a:rPr lang="ru-RU" dirty="0" err="1">
                <a:latin typeface="Comic Sans MS" panose="030F0702030302020204" pitchFamily="66" charset="0"/>
              </a:rPr>
              <a:t>ahvus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078E5-AB81-4AB9-8B00-05569073EFB2}"/>
              </a:ext>
            </a:extLst>
          </p:cNvPr>
          <p:cNvSpPr txBox="1"/>
          <p:nvPr/>
        </p:nvSpPr>
        <p:spPr>
          <a:xfrm>
            <a:off x="2848557" y="6468289"/>
            <a:ext cx="1174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B2B2B2"/>
                </a:solidFill>
                <a:latin typeface="Comic Sans MS" panose="030F0702030302020204" pitchFamily="66" charset="0"/>
              </a:rPr>
              <a:t>food</a:t>
            </a:r>
            <a:endParaRPr lang="ru-RU" sz="16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9D5F3-8C57-493A-A97A-22FA8E2B3AE9}"/>
              </a:ext>
            </a:extLst>
          </p:cNvPr>
          <p:cNvSpPr txBox="1"/>
          <p:nvPr/>
        </p:nvSpPr>
        <p:spPr>
          <a:xfrm>
            <a:off x="7291346" y="6378362"/>
            <a:ext cx="3321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B2B2B2"/>
                </a:solidFill>
                <a:latin typeface="Comic Sans MS" panose="030F0702030302020204" pitchFamily="66" charset="0"/>
              </a:rPr>
              <a:t>nation</a:t>
            </a:r>
            <a:endParaRPr lang="ru-RU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CD327-96E2-497A-81E0-E8B7551BBB97}"/>
              </a:ext>
            </a:extLst>
          </p:cNvPr>
          <p:cNvSpPr txBox="1"/>
          <p:nvPr/>
        </p:nvSpPr>
        <p:spPr>
          <a:xfrm>
            <a:off x="3105648" y="968525"/>
            <a:ext cx="6094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B2B2B2"/>
                </a:solidFill>
                <a:latin typeface="Comic Sans MS" panose="030F0702030302020204" pitchFamily="66" charset="0"/>
              </a:rPr>
              <a:t>As you remember, in the previous lesson we talked about buckwheat</a:t>
            </a:r>
            <a:endParaRPr lang="ru-RU" sz="20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76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F15F7F-38D3-403B-895D-C260CFDF9727}"/>
              </a:ext>
            </a:extLst>
          </p:cNvPr>
          <p:cNvSpPr txBox="1"/>
          <p:nvPr/>
        </p:nvSpPr>
        <p:spPr>
          <a:xfrm>
            <a:off x="3048663" y="115125"/>
            <a:ext cx="6094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Nagu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mäletate</a:t>
            </a:r>
            <a:r>
              <a:rPr lang="ru-RU" sz="2800" dirty="0">
                <a:latin typeface="Comic Sans MS" panose="030F0702030302020204" pitchFamily="66" charset="0"/>
              </a:rPr>
              <a:t>, </a:t>
            </a:r>
            <a:r>
              <a:rPr lang="ru-RU" sz="2800" dirty="0" err="1">
                <a:latin typeface="Comic Sans MS" panose="030F0702030302020204" pitchFamily="66" charset="0"/>
              </a:rPr>
              <a:t>rääkisime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eelmises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tunnis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tatar</a:t>
            </a:r>
            <a:endParaRPr lang="ru-RU" sz="2800" dirty="0">
              <a:latin typeface="Comic Sans MS" panose="030F0702030302020204" pitchFamily="66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D2C77C-2E54-40EB-9B49-0B41B00686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294" y="2039639"/>
            <a:ext cx="4573761" cy="391961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49569D-5854-4B11-B844-34F2E3630E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51" y="1697942"/>
            <a:ext cx="4401015" cy="4401015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26E9CF9-6C75-410E-8D25-FC361EC96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5</a:t>
            </a:fld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1C2DE-F71C-4399-B28B-80542488D2DC}"/>
              </a:ext>
            </a:extLst>
          </p:cNvPr>
          <p:cNvSpPr txBox="1"/>
          <p:nvPr/>
        </p:nvSpPr>
        <p:spPr>
          <a:xfrm>
            <a:off x="2848557" y="6150673"/>
            <a:ext cx="117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T</a:t>
            </a:r>
            <a:r>
              <a:rPr lang="ru-RU" dirty="0" err="1">
                <a:latin typeface="Comic Sans MS" panose="030F0702030302020204" pitchFamily="66" charset="0"/>
              </a:rPr>
              <a:t>oit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DE1B51-98EC-4F42-B2B0-FF86CFEF8CE1}"/>
              </a:ext>
            </a:extLst>
          </p:cNvPr>
          <p:cNvSpPr txBox="1"/>
          <p:nvPr/>
        </p:nvSpPr>
        <p:spPr>
          <a:xfrm>
            <a:off x="7291346" y="6098957"/>
            <a:ext cx="3321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R</a:t>
            </a:r>
            <a:r>
              <a:rPr lang="ru-RU" dirty="0" err="1">
                <a:latin typeface="Comic Sans MS" panose="030F0702030302020204" pitchFamily="66" charset="0"/>
              </a:rPr>
              <a:t>ahvus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078E5-AB81-4AB9-8B00-05569073EFB2}"/>
              </a:ext>
            </a:extLst>
          </p:cNvPr>
          <p:cNvSpPr txBox="1"/>
          <p:nvPr/>
        </p:nvSpPr>
        <p:spPr>
          <a:xfrm>
            <a:off x="2848557" y="6468289"/>
            <a:ext cx="11748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B2B2B2"/>
                </a:solidFill>
                <a:latin typeface="Comic Sans MS" panose="030F0702030302020204" pitchFamily="66" charset="0"/>
              </a:rPr>
              <a:t>food</a:t>
            </a:r>
            <a:endParaRPr lang="ru-RU" sz="16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9D5F3-8C57-493A-A97A-22FA8E2B3AE9}"/>
              </a:ext>
            </a:extLst>
          </p:cNvPr>
          <p:cNvSpPr txBox="1"/>
          <p:nvPr/>
        </p:nvSpPr>
        <p:spPr>
          <a:xfrm>
            <a:off x="7291346" y="6378362"/>
            <a:ext cx="3321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B2B2B2"/>
                </a:solidFill>
                <a:latin typeface="Comic Sans MS" panose="030F0702030302020204" pitchFamily="66" charset="0"/>
              </a:rPr>
              <a:t>nation</a:t>
            </a:r>
            <a:endParaRPr lang="ru-RU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CD327-96E2-497A-81E0-E8B7551BBB97}"/>
              </a:ext>
            </a:extLst>
          </p:cNvPr>
          <p:cNvSpPr txBox="1"/>
          <p:nvPr/>
        </p:nvSpPr>
        <p:spPr>
          <a:xfrm>
            <a:off x="3105648" y="968525"/>
            <a:ext cx="6094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B2B2B2"/>
                </a:solidFill>
                <a:latin typeface="Comic Sans MS" panose="030F0702030302020204" pitchFamily="66" charset="0"/>
              </a:rPr>
              <a:t>As you remember, in the previous lesson we talked about buckwheat</a:t>
            </a:r>
            <a:endParaRPr lang="ru-RU" sz="20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021225-7A60-41E5-A277-75E52EA2041D}"/>
              </a:ext>
            </a:extLst>
          </p:cNvPr>
          <p:cNvSpPr txBox="1"/>
          <p:nvPr/>
        </p:nvSpPr>
        <p:spPr>
          <a:xfrm>
            <a:off x="3435958" y="3290355"/>
            <a:ext cx="5963477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ru-RU" sz="3200" dirty="0" err="1">
                <a:latin typeface="Comic Sans MS" panose="030F0702030302020204" pitchFamily="66" charset="0"/>
              </a:rPr>
              <a:t>Ma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sz="3200" dirty="0" err="1">
                <a:latin typeface="Comic Sans MS" panose="030F0702030302020204" pitchFamily="66" charset="0"/>
              </a:rPr>
              <a:t>ei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sz="3200" dirty="0" err="1">
                <a:latin typeface="Comic Sans MS" panose="030F0702030302020204" pitchFamily="66" charset="0"/>
              </a:rPr>
              <a:t>näe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sz="3200" dirty="0" err="1">
                <a:latin typeface="Comic Sans MS" panose="030F0702030302020204" pitchFamily="66" charset="0"/>
              </a:rPr>
              <a:t>välja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sz="3200" dirty="0" err="1">
                <a:latin typeface="Comic Sans MS" panose="030F0702030302020204" pitchFamily="66" charset="0"/>
              </a:rPr>
              <a:t>nagu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sz="3200" dirty="0" err="1">
                <a:latin typeface="Comic Sans MS" panose="030F0702030302020204" pitchFamily="66" charset="0"/>
              </a:rPr>
              <a:t>üks</a:t>
            </a:r>
            <a:r>
              <a:rPr lang="ru-RU" sz="3200" dirty="0">
                <a:latin typeface="Comic Sans MS" panose="030F0702030302020204" pitchFamily="66" charset="0"/>
              </a:rPr>
              <a:t> </a:t>
            </a:r>
            <a:r>
              <a:rPr lang="ru-RU" sz="3200" dirty="0" err="1">
                <a:latin typeface="Comic Sans MS" panose="030F0702030302020204" pitchFamily="66" charset="0"/>
              </a:rPr>
              <a:t>neist</a:t>
            </a:r>
            <a:endParaRPr lang="en-US" sz="3200" dirty="0">
              <a:latin typeface="Comic Sans MS" panose="030F0702030302020204" pitchFamily="66" charset="0"/>
            </a:endParaRPr>
          </a:p>
          <a:p>
            <a:pPr algn="ctr"/>
            <a:r>
              <a:rPr lang="en-US" sz="2400" dirty="0">
                <a:solidFill>
                  <a:srgbClr val="B2B2B2"/>
                </a:solidFill>
                <a:latin typeface="Comic Sans MS" panose="030F0702030302020204" pitchFamily="66" charset="0"/>
              </a:rPr>
              <a:t>I’m not look like one of them</a:t>
            </a:r>
            <a:endParaRPr lang="ru-RU" sz="24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61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207B6-9896-4936-B9A5-41E420243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7130" y="6386313"/>
            <a:ext cx="452043" cy="365125"/>
          </a:xfrm>
        </p:spPr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6</a:t>
            </a:fld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50C59-1FEE-44E3-A810-BFFD31967929}"/>
              </a:ext>
            </a:extLst>
          </p:cNvPr>
          <p:cNvSpPr txBox="1"/>
          <p:nvPr/>
        </p:nvSpPr>
        <p:spPr>
          <a:xfrm>
            <a:off x="3977639" y="243696"/>
            <a:ext cx="44030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Ma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oskan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en-US" sz="2800" dirty="0" err="1">
                <a:latin typeface="Comic Sans MS" panose="030F0702030302020204" pitchFamily="66" charset="0"/>
              </a:rPr>
              <a:t>kaks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keelt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9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207B6-9896-4936-B9A5-41E420243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7</a:t>
            </a:fld>
            <a:endParaRPr lang="ru-RU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Гречневая крупа Цесна 2.9 кг">
            <a:extLst>
              <a:ext uri="{FF2B5EF4-FFF2-40B4-BE49-F238E27FC236}">
                <a16:creationId xmlns:a16="http://schemas.microsoft.com/office/drawing/2014/main" id="{1EF1B615-322B-4C3D-9EAB-78BD2B146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15" y="809126"/>
            <a:ext cx="4949685" cy="494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EA5AF7-77C1-4319-8BBE-69FB30264C6F}"/>
              </a:ext>
            </a:extLst>
          </p:cNvPr>
          <p:cNvSpPr txBox="1"/>
          <p:nvPr/>
        </p:nvSpPr>
        <p:spPr>
          <a:xfrm>
            <a:off x="1146314" y="5984135"/>
            <a:ext cx="4949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latin typeface="Comic Sans MS" panose="030F0702030302020204" pitchFamily="66" charset="0"/>
              </a:rPr>
              <a:t>Қарақұмық</a:t>
            </a:r>
            <a:r>
              <a:rPr lang="ru-RU" sz="2000" dirty="0">
                <a:latin typeface="Comic Sans MS" panose="030F0702030302020204" pitchFamily="66" charset="0"/>
              </a:rPr>
              <a:t> – </a:t>
            </a:r>
            <a:r>
              <a:rPr lang="en-US" sz="2000" dirty="0" err="1">
                <a:latin typeface="Comic Sans MS" panose="030F0702030302020204" pitchFamily="66" charset="0"/>
              </a:rPr>
              <a:t>mustad</a:t>
            </a:r>
            <a:r>
              <a:rPr lang="en-US" sz="2000" dirty="0">
                <a:latin typeface="Comic Sans MS" panose="030F0702030302020204" pitchFamily="66" charset="0"/>
              </a:rPr>
              <a:t> </a:t>
            </a:r>
            <a:r>
              <a:rPr lang="en-US" sz="2000" dirty="0" err="1">
                <a:latin typeface="Comic Sans MS" panose="030F0702030302020204" pitchFamily="66" charset="0"/>
              </a:rPr>
              <a:t>tangud</a:t>
            </a:r>
            <a:r>
              <a:rPr lang="ru-RU" sz="2000" dirty="0">
                <a:latin typeface="Comic Sans MS" panose="030F0702030302020204" pitchFamily="66" charset="0"/>
              </a:rPr>
              <a:t>\</a:t>
            </a:r>
            <a:r>
              <a:rPr lang="en-US" sz="2000" dirty="0">
                <a:latin typeface="Comic Sans MS" panose="030F0702030302020204" pitchFamily="66" charset="0"/>
              </a:rPr>
              <a:t>must </a:t>
            </a:r>
            <a:r>
              <a:rPr lang="en-US" sz="2000" dirty="0" err="1">
                <a:latin typeface="Comic Sans MS" panose="030F0702030302020204" pitchFamily="66" charset="0"/>
              </a:rPr>
              <a:t>liiv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3948B-75B9-497D-ABD8-BC3A258D2BED}"/>
              </a:ext>
            </a:extLst>
          </p:cNvPr>
          <p:cNvSpPr txBox="1"/>
          <p:nvPr/>
        </p:nvSpPr>
        <p:spPr>
          <a:xfrm>
            <a:off x="3357438" y="6271015"/>
            <a:ext cx="31864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black</a:t>
            </a:r>
            <a:r>
              <a:rPr lang="ru-RU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groats</a:t>
            </a:r>
            <a:r>
              <a:rPr lang="ru-RU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\</a:t>
            </a:r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 black </a:t>
            </a:r>
            <a:r>
              <a:rPr lang="en-US" sz="1600" dirty="0">
                <a:solidFill>
                  <a:srgbClr val="B2B2B2"/>
                </a:solidFill>
                <a:latin typeface="Comic Sans MS" panose="030F0702030302020204" pitchFamily="66" charset="0"/>
              </a:rPr>
              <a:t>sand</a:t>
            </a:r>
            <a:endParaRPr lang="ru-RU" sz="16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50C59-1FEE-44E3-A810-BFFD31967929}"/>
              </a:ext>
            </a:extLst>
          </p:cNvPr>
          <p:cNvSpPr txBox="1"/>
          <p:nvPr/>
        </p:nvSpPr>
        <p:spPr>
          <a:xfrm>
            <a:off x="3977639" y="235745"/>
            <a:ext cx="44030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Ma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oskan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en-US" sz="2800" dirty="0" err="1">
                <a:latin typeface="Comic Sans MS" panose="030F0702030302020204" pitchFamily="66" charset="0"/>
              </a:rPr>
              <a:t>kaks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keelt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72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207B6-9896-4936-B9A5-41E420243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8</a:t>
            </a:fld>
            <a:endParaRPr lang="ru-RU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Гречневая крупа Цесна 2.9 кг">
            <a:extLst>
              <a:ext uri="{FF2B5EF4-FFF2-40B4-BE49-F238E27FC236}">
                <a16:creationId xmlns:a16="http://schemas.microsoft.com/office/drawing/2014/main" id="{1EF1B615-322B-4C3D-9EAB-78BD2B146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15" y="809126"/>
            <a:ext cx="4949685" cy="494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Крупа Гречка &quot;Экстра&quot; отборная, 1.5 кг">
            <a:extLst>
              <a:ext uri="{FF2B5EF4-FFF2-40B4-BE49-F238E27FC236}">
                <a16:creationId xmlns:a16="http://schemas.microsoft.com/office/drawing/2014/main" id="{862950AF-B111-4A5C-82B7-D628BF49E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47" y="809126"/>
            <a:ext cx="4949686" cy="494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EA5AF7-77C1-4319-8BBE-69FB30264C6F}"/>
              </a:ext>
            </a:extLst>
          </p:cNvPr>
          <p:cNvSpPr txBox="1"/>
          <p:nvPr/>
        </p:nvSpPr>
        <p:spPr>
          <a:xfrm>
            <a:off x="1146314" y="5984135"/>
            <a:ext cx="4949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latin typeface="Comic Sans MS" panose="030F0702030302020204" pitchFamily="66" charset="0"/>
              </a:rPr>
              <a:t>Қарақұмық</a:t>
            </a:r>
            <a:r>
              <a:rPr lang="ru-RU" sz="2000" dirty="0">
                <a:latin typeface="Comic Sans MS" panose="030F0702030302020204" pitchFamily="66" charset="0"/>
              </a:rPr>
              <a:t> – </a:t>
            </a:r>
            <a:r>
              <a:rPr lang="en-US" sz="2000" dirty="0" err="1">
                <a:latin typeface="Comic Sans MS" panose="030F0702030302020204" pitchFamily="66" charset="0"/>
              </a:rPr>
              <a:t>mustad</a:t>
            </a:r>
            <a:r>
              <a:rPr lang="en-US" sz="2000" dirty="0">
                <a:latin typeface="Comic Sans MS" panose="030F0702030302020204" pitchFamily="66" charset="0"/>
              </a:rPr>
              <a:t> </a:t>
            </a:r>
            <a:r>
              <a:rPr lang="en-US" sz="2000" dirty="0" err="1">
                <a:latin typeface="Comic Sans MS" panose="030F0702030302020204" pitchFamily="66" charset="0"/>
              </a:rPr>
              <a:t>tangud</a:t>
            </a:r>
            <a:r>
              <a:rPr lang="ru-RU" sz="2000" dirty="0">
                <a:latin typeface="Comic Sans MS" panose="030F0702030302020204" pitchFamily="66" charset="0"/>
              </a:rPr>
              <a:t>\</a:t>
            </a:r>
            <a:r>
              <a:rPr lang="en-US" sz="2000" dirty="0">
                <a:latin typeface="Comic Sans MS" panose="030F0702030302020204" pitchFamily="66" charset="0"/>
              </a:rPr>
              <a:t>must </a:t>
            </a:r>
            <a:r>
              <a:rPr lang="en-US" sz="2000" dirty="0" err="1">
                <a:latin typeface="Comic Sans MS" panose="030F0702030302020204" pitchFamily="66" charset="0"/>
              </a:rPr>
              <a:t>liiv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3948B-75B9-497D-ABD8-BC3A258D2BED}"/>
              </a:ext>
            </a:extLst>
          </p:cNvPr>
          <p:cNvSpPr txBox="1"/>
          <p:nvPr/>
        </p:nvSpPr>
        <p:spPr>
          <a:xfrm>
            <a:off x="3357438" y="6271015"/>
            <a:ext cx="31864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black</a:t>
            </a:r>
            <a:r>
              <a:rPr lang="ru-RU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groats</a:t>
            </a:r>
            <a:r>
              <a:rPr lang="ru-RU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\</a:t>
            </a:r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 black </a:t>
            </a:r>
            <a:r>
              <a:rPr lang="en-US" sz="1600" dirty="0">
                <a:solidFill>
                  <a:srgbClr val="B2B2B2"/>
                </a:solidFill>
                <a:latin typeface="Comic Sans MS" panose="030F0702030302020204" pitchFamily="66" charset="0"/>
              </a:rPr>
              <a:t>sand</a:t>
            </a:r>
            <a:endParaRPr lang="ru-RU" sz="16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86941E-61B3-47A2-9646-1C9DD8DD7E7F}"/>
              </a:ext>
            </a:extLst>
          </p:cNvPr>
          <p:cNvSpPr txBox="1"/>
          <p:nvPr/>
        </p:nvSpPr>
        <p:spPr>
          <a:xfrm>
            <a:off x="6494558" y="5997882"/>
            <a:ext cx="4520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Гречка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50C59-1FEE-44E3-A810-BFFD31967929}"/>
              </a:ext>
            </a:extLst>
          </p:cNvPr>
          <p:cNvSpPr txBox="1"/>
          <p:nvPr/>
        </p:nvSpPr>
        <p:spPr>
          <a:xfrm>
            <a:off x="3977639" y="235745"/>
            <a:ext cx="44030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Ma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oskan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en-US" sz="2800" dirty="0" err="1">
                <a:latin typeface="Comic Sans MS" panose="030F0702030302020204" pitchFamily="66" charset="0"/>
              </a:rPr>
              <a:t>kaks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keelt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141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207B6-9896-4936-B9A5-41E420243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9</a:t>
            </a:fld>
            <a:endParaRPr lang="ru-RU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Гречневая крупа Цесна 2.9 кг">
            <a:extLst>
              <a:ext uri="{FF2B5EF4-FFF2-40B4-BE49-F238E27FC236}">
                <a16:creationId xmlns:a16="http://schemas.microsoft.com/office/drawing/2014/main" id="{1EF1B615-322B-4C3D-9EAB-78BD2B146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315" y="809126"/>
            <a:ext cx="4949685" cy="494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Крупа Гречка &quot;Экстра&quot; отборная, 1.5 кг">
            <a:extLst>
              <a:ext uri="{FF2B5EF4-FFF2-40B4-BE49-F238E27FC236}">
                <a16:creationId xmlns:a16="http://schemas.microsoft.com/office/drawing/2014/main" id="{862950AF-B111-4A5C-82B7-D628BF49E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47" y="809126"/>
            <a:ext cx="4949686" cy="494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EA5AF7-77C1-4319-8BBE-69FB30264C6F}"/>
              </a:ext>
            </a:extLst>
          </p:cNvPr>
          <p:cNvSpPr txBox="1"/>
          <p:nvPr/>
        </p:nvSpPr>
        <p:spPr>
          <a:xfrm>
            <a:off x="1146314" y="5984135"/>
            <a:ext cx="4949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latin typeface="Comic Sans MS" panose="030F0702030302020204" pitchFamily="66" charset="0"/>
              </a:rPr>
              <a:t>Қарақұмық</a:t>
            </a:r>
            <a:r>
              <a:rPr lang="ru-RU" sz="2000" dirty="0">
                <a:latin typeface="Comic Sans MS" panose="030F0702030302020204" pitchFamily="66" charset="0"/>
              </a:rPr>
              <a:t> – </a:t>
            </a:r>
            <a:r>
              <a:rPr lang="en-US" sz="2000" dirty="0" err="1">
                <a:latin typeface="Comic Sans MS" panose="030F0702030302020204" pitchFamily="66" charset="0"/>
              </a:rPr>
              <a:t>mustad</a:t>
            </a:r>
            <a:r>
              <a:rPr lang="en-US" sz="2000" dirty="0">
                <a:latin typeface="Comic Sans MS" panose="030F0702030302020204" pitchFamily="66" charset="0"/>
              </a:rPr>
              <a:t> </a:t>
            </a:r>
            <a:r>
              <a:rPr lang="en-US" sz="2000" dirty="0" err="1">
                <a:latin typeface="Comic Sans MS" panose="030F0702030302020204" pitchFamily="66" charset="0"/>
              </a:rPr>
              <a:t>tangud</a:t>
            </a:r>
            <a:r>
              <a:rPr lang="ru-RU" sz="2000" dirty="0">
                <a:latin typeface="Comic Sans MS" panose="030F0702030302020204" pitchFamily="66" charset="0"/>
              </a:rPr>
              <a:t>\</a:t>
            </a:r>
            <a:r>
              <a:rPr lang="en-US" sz="2000" dirty="0">
                <a:latin typeface="Comic Sans MS" panose="030F0702030302020204" pitchFamily="66" charset="0"/>
              </a:rPr>
              <a:t>must </a:t>
            </a:r>
            <a:r>
              <a:rPr lang="en-US" sz="2000" dirty="0" err="1">
                <a:latin typeface="Comic Sans MS" panose="030F0702030302020204" pitchFamily="66" charset="0"/>
              </a:rPr>
              <a:t>liiv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3948B-75B9-497D-ABD8-BC3A258D2BED}"/>
              </a:ext>
            </a:extLst>
          </p:cNvPr>
          <p:cNvSpPr txBox="1"/>
          <p:nvPr/>
        </p:nvSpPr>
        <p:spPr>
          <a:xfrm>
            <a:off x="3357438" y="6271015"/>
            <a:ext cx="31864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black</a:t>
            </a:r>
            <a:r>
              <a:rPr lang="ru-RU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groats</a:t>
            </a:r>
            <a:r>
              <a:rPr lang="ru-RU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\</a:t>
            </a:r>
            <a:r>
              <a:rPr lang="en-US" sz="1600" b="0" u="none" strike="noStrike" dirty="0">
                <a:solidFill>
                  <a:srgbClr val="B2B2B2"/>
                </a:solidFill>
                <a:effectLst/>
                <a:latin typeface="Comic Sans MS" panose="030F0702030302020204" pitchFamily="66" charset="0"/>
              </a:rPr>
              <a:t> black </a:t>
            </a:r>
            <a:r>
              <a:rPr lang="en-US" sz="1600" dirty="0">
                <a:solidFill>
                  <a:srgbClr val="B2B2B2"/>
                </a:solidFill>
                <a:latin typeface="Comic Sans MS" panose="030F0702030302020204" pitchFamily="66" charset="0"/>
              </a:rPr>
              <a:t>sand</a:t>
            </a:r>
            <a:endParaRPr lang="ru-RU" sz="16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pic>
        <p:nvPicPr>
          <p:cNvPr id="2058" name="Picture 10" descr="Греки (гречанка) — Мегаэнциклопедия Кирилла и Мефодия — медиаобъект">
            <a:extLst>
              <a:ext uri="{FF2B5EF4-FFF2-40B4-BE49-F238E27FC236}">
                <a16:creationId xmlns:a16="http://schemas.microsoft.com/office/drawing/2014/main" id="{4BE50D65-1CE2-481D-9DE9-966288E62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969" y="809125"/>
            <a:ext cx="4118112" cy="4956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86941E-61B3-47A2-9646-1C9DD8DD7E7F}"/>
              </a:ext>
            </a:extLst>
          </p:cNvPr>
          <p:cNvSpPr txBox="1"/>
          <p:nvPr/>
        </p:nvSpPr>
        <p:spPr>
          <a:xfrm>
            <a:off x="6494558" y="5997882"/>
            <a:ext cx="4520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Comic Sans MS" panose="030F0702030302020204" pitchFamily="66" charset="0"/>
              </a:rPr>
              <a:t>Гречка – (гречанка) </a:t>
            </a:r>
            <a:r>
              <a:rPr lang="ru-RU" dirty="0" err="1">
                <a:latin typeface="Comic Sans MS" panose="030F0702030302020204" pitchFamily="66" charset="0"/>
              </a:rPr>
              <a:t>Kreeka</a:t>
            </a:r>
            <a:r>
              <a:rPr lang="ru-RU" dirty="0">
                <a:latin typeface="Comic Sans MS" panose="030F0702030302020204" pitchFamily="66" charset="0"/>
              </a:rPr>
              <a:t> </a:t>
            </a:r>
            <a:r>
              <a:rPr lang="ru-RU" dirty="0" err="1">
                <a:latin typeface="Comic Sans MS" panose="030F0702030302020204" pitchFamily="66" charset="0"/>
              </a:rPr>
              <a:t>naised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AE753-6D94-4003-B1E8-3F03E32CB3D8}"/>
              </a:ext>
            </a:extLst>
          </p:cNvPr>
          <p:cNvSpPr txBox="1"/>
          <p:nvPr/>
        </p:nvSpPr>
        <p:spPr>
          <a:xfrm>
            <a:off x="8922025" y="6271015"/>
            <a:ext cx="1788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B2B2B2"/>
                </a:solidFill>
                <a:latin typeface="Comic Sans MS" panose="030F0702030302020204" pitchFamily="66" charset="0"/>
              </a:rPr>
              <a:t>Greece women</a:t>
            </a:r>
            <a:endParaRPr lang="ru-RU" sz="1600" dirty="0">
              <a:solidFill>
                <a:srgbClr val="B2B2B2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50C59-1FEE-44E3-A810-BFFD31967929}"/>
              </a:ext>
            </a:extLst>
          </p:cNvPr>
          <p:cNvSpPr txBox="1"/>
          <p:nvPr/>
        </p:nvSpPr>
        <p:spPr>
          <a:xfrm>
            <a:off x="3977639" y="235745"/>
            <a:ext cx="44030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Ma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oskan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en-US" sz="2800" dirty="0" err="1">
                <a:latin typeface="Comic Sans MS" panose="030F0702030302020204" pitchFamily="66" charset="0"/>
              </a:rPr>
              <a:t>kaks</a:t>
            </a:r>
            <a:r>
              <a:rPr lang="ru-RU" sz="2800" dirty="0">
                <a:latin typeface="Comic Sans MS" panose="030F0702030302020204" pitchFamily="66" charset="0"/>
              </a:rPr>
              <a:t> </a:t>
            </a:r>
            <a:r>
              <a:rPr lang="ru-RU" sz="2800" dirty="0" err="1">
                <a:latin typeface="Comic Sans MS" panose="030F0702030302020204" pitchFamily="66" charset="0"/>
              </a:rPr>
              <a:t>keelt</a:t>
            </a:r>
            <a:endParaRPr lang="ru-RU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579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062D2E-72F5-441C-A6A8-0137E07A5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10</a:t>
            </a:fld>
            <a:endParaRPr lang="ru-RU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вопросительный милый котик">
            <a:extLst>
              <a:ext uri="{FF2B5EF4-FFF2-40B4-BE49-F238E27FC236}">
                <a16:creationId xmlns:a16="http://schemas.microsoft.com/office/drawing/2014/main" id="{B7BE70C5-4F1F-49D3-90E3-2E457028E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153" y="1423283"/>
            <a:ext cx="5201569" cy="520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966FE4-E039-42BE-AEAB-773533C242D6}"/>
              </a:ext>
            </a:extLst>
          </p:cNvPr>
          <p:cNvSpPr txBox="1"/>
          <p:nvPr/>
        </p:nvSpPr>
        <p:spPr>
          <a:xfrm>
            <a:off x="3048663" y="455414"/>
            <a:ext cx="6094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90909"/>
                </a:solidFill>
              </a:rPr>
              <a:t>Ma h</a:t>
            </a:r>
            <a:r>
              <a:rPr lang="ru-RU" sz="2800" dirty="0" err="1">
                <a:solidFill>
                  <a:srgbClr val="090909"/>
                </a:solidFill>
              </a:rPr>
              <a:t>akkasin</a:t>
            </a:r>
            <a:r>
              <a:rPr lang="ru-RU" sz="2800" dirty="0">
                <a:solidFill>
                  <a:srgbClr val="090909"/>
                </a:solidFill>
              </a:rPr>
              <a:t> </a:t>
            </a:r>
            <a:r>
              <a:rPr lang="ru-RU" sz="2800" dirty="0" err="1">
                <a:solidFill>
                  <a:srgbClr val="090909"/>
                </a:solidFill>
              </a:rPr>
              <a:t>mõtlema</a:t>
            </a:r>
            <a:r>
              <a:rPr lang="ru-RU" sz="2800" dirty="0">
                <a:solidFill>
                  <a:srgbClr val="090909"/>
                </a:solidFill>
              </a:rPr>
              <a:t> </a:t>
            </a:r>
            <a:r>
              <a:rPr lang="ru-RU" sz="2800" dirty="0" err="1">
                <a:solidFill>
                  <a:srgbClr val="090909"/>
                </a:solidFill>
              </a:rPr>
              <a:t>ja</a:t>
            </a:r>
            <a:r>
              <a:rPr lang="ru-RU" sz="2800" dirty="0">
                <a:solidFill>
                  <a:srgbClr val="090909"/>
                </a:solidFill>
              </a:rPr>
              <a:t> </a:t>
            </a:r>
            <a:r>
              <a:rPr lang="ru-RU" sz="2800" dirty="0" err="1">
                <a:solidFill>
                  <a:srgbClr val="090909"/>
                </a:solidFill>
              </a:rPr>
              <a:t>guugeldama</a:t>
            </a:r>
            <a:endParaRPr lang="en-US" sz="2800" dirty="0">
              <a:solidFill>
                <a:srgbClr val="090909"/>
              </a:solidFill>
            </a:endParaRPr>
          </a:p>
          <a:p>
            <a:pPr algn="ctr"/>
            <a:r>
              <a:rPr lang="en-US" sz="2000" dirty="0">
                <a:solidFill>
                  <a:srgbClr val="B2B2B2"/>
                </a:solidFill>
              </a:rPr>
              <a:t>I started thinking and Googling</a:t>
            </a:r>
            <a:endParaRPr lang="ru-RU" sz="2000" dirty="0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96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207B6-9896-4936-B9A5-41E420243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11</a:t>
            </a:fld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50C59-1FEE-44E3-A810-BFFD31967929}"/>
              </a:ext>
            </a:extLst>
          </p:cNvPr>
          <p:cNvSpPr txBox="1"/>
          <p:nvPr/>
        </p:nvSpPr>
        <p:spPr>
          <a:xfrm>
            <a:off x="1651000" y="235745"/>
            <a:ext cx="889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Välimuse või päritolu järgi?</a:t>
            </a:r>
            <a:endParaRPr lang="ru-RU" sz="2800" dirty="0">
              <a:latin typeface="Comic Sans MS" panose="030F0702030302020204" pitchFamily="66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89000" y="1016000"/>
          <a:ext cx="10414000" cy="528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0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omic Sans MS"/>
                        </a:rPr>
                        <a:t>Välimuse järgi</a:t>
                      </a:r>
                      <a:r>
                        <a:rPr sz="1400" b="0">
                          <a:solidFill>
                            <a:srgbClr val="FFFFFF"/>
                          </a:solidFill>
                          <a:latin typeface="Comic Sans MS"/>
                        </a:rPr>
                        <a:t>  (by appearance)</a:t>
                      </a:r>
                    </a:p>
                  </a:txBody>
                  <a:tcPr anchor="ctr">
                    <a:solidFill>
                      <a:srgbClr val="F26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omic Sans MS"/>
                        </a:rPr>
                        <a:t>Päritolu järgi</a:t>
                      </a:r>
                      <a:r>
                        <a:rPr sz="1400" b="0">
                          <a:solidFill>
                            <a:srgbClr val="FFFFFF"/>
                          </a:solidFill>
                          <a:latin typeface="Comic Sans MS"/>
                        </a:rPr>
                        <a:t>  (by where it came from)</a:t>
                      </a:r>
                    </a:p>
                  </a:txBody>
                  <a:tcPr anchor="ctr">
                    <a:solidFill>
                      <a:srgbClr val="0E5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қарақұмық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kasahhi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black sand</a:t>
                      </a:r>
                    </a:p>
                  </a:txBody>
                  <a:tcPr marL="177800" anchor="ctr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tatar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eesti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Tatar grain</a:t>
                      </a:r>
                    </a:p>
                  </a:txBody>
                  <a:tcPr marL="177800" anchor="ctr">
                    <a:solidFill>
                      <a:srgbClr val="E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карабодай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tatari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black wheat</a:t>
                      </a:r>
                    </a:p>
                  </a:txBody>
                  <a:tcPr marL="177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tattari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soome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Tatar grain</a:t>
                      </a:r>
                    </a:p>
                  </a:txBody>
                  <a:tcPr marL="177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karabuğday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türgi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black wheat</a:t>
                      </a:r>
                    </a:p>
                  </a:txBody>
                  <a:tcPr marL="177800" anchor="ctr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гречка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vene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Greek grain</a:t>
                      </a:r>
                    </a:p>
                  </a:txBody>
                  <a:tcPr marL="177800" anchor="ctr">
                    <a:solidFill>
                      <a:srgbClr val="E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Buchweizen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saksa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beech wheat</a:t>
                      </a:r>
                    </a:p>
                  </a:txBody>
                  <a:tcPr marL="177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griķi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läti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Greek grain</a:t>
                      </a:r>
                    </a:p>
                  </a:txBody>
                  <a:tcPr marL="177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buckwheat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inglise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beech wheat</a:t>
                      </a:r>
                    </a:p>
                  </a:txBody>
                  <a:tcPr marL="177800" anchor="ctr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gryka / tatarka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poola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Greek / Tatar grain</a:t>
                      </a:r>
                    </a:p>
                  </a:txBody>
                  <a:tcPr marL="177800" anchor="ctr">
                    <a:solidFill>
                      <a:srgbClr val="E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bovete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rootsi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beech wheat</a:t>
                      </a:r>
                    </a:p>
                  </a:txBody>
                  <a:tcPr marL="177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grano saraceno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itaalia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Saracen grain</a:t>
                      </a:r>
                    </a:p>
                  </a:txBody>
                  <a:tcPr marL="177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φαγόπυρο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kreeka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beech wheat</a:t>
                      </a:r>
                    </a:p>
                  </a:txBody>
                  <a:tcPr marL="177800" anchor="ctr">
                    <a:solidFill>
                      <a:srgbClr val="FDE9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2A35"/>
                          </a:solidFill>
                          <a:latin typeface="Comic Sans MS"/>
                        </a:rPr>
                        <a:t>sarrasin</a:t>
                      </a:r>
                      <a:r>
                        <a:rPr sz="1600" b="0">
                          <a:solidFill>
                            <a:srgbClr val="222A35"/>
                          </a:solidFill>
                          <a:latin typeface="Comic Sans MS"/>
                        </a:rPr>
                        <a:t> – prantsuse</a:t>
                      </a:r>
                      <a:r>
                        <a:rPr sz="1300" b="0">
                          <a:solidFill>
                            <a:srgbClr val="B2B2B2"/>
                          </a:solidFill>
                          <a:latin typeface="Comic Sans MS"/>
                        </a:rPr>
                        <a:t>   Saracen grain</a:t>
                      </a:r>
                    </a:p>
                  </a:txBody>
                  <a:tcPr marL="177800" anchor="ctr">
                    <a:solidFill>
                      <a:srgbClr val="E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207B6-9896-4936-B9A5-41E420243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12</a:t>
            </a:fld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50C59-1FEE-44E3-A810-BFFD31967929}"/>
              </a:ext>
            </a:extLst>
          </p:cNvPr>
          <p:cNvSpPr txBox="1"/>
          <p:nvPr/>
        </p:nvSpPr>
        <p:spPr>
          <a:xfrm>
            <a:off x="1651000" y="235745"/>
            <a:ext cx="889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Comic Sans MS" panose="030F0702030302020204" pitchFamily="66" charset="0"/>
              </a:rPr>
              <a:t>Kuidas tatar Euroopasse jõudis</a:t>
            </a:r>
            <a:endParaRPr lang="ru-RU" sz="2800" dirty="0">
              <a:latin typeface="Comic Sans MS" panose="030F0702030302020204" pitchFamily="66" charset="0"/>
            </a:endParaRPr>
          </a:p>
        </p:txBody>
      </p:sp>
      <p:pic>
        <p:nvPicPr>
          <p:cNvPr id="18" name="Kaart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041400"/>
            <a:ext cx="10541000" cy="52485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016000" y="5537200"/>
            <a:ext cx="203200" cy="203200"/>
          </a:xfrm>
          <a:prstGeom prst="ellipse">
            <a:avLst/>
          </a:prstGeom>
          <a:solidFill>
            <a:srgbClr val="F2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702030302020204" pitchFamily="66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95400" y="5461000"/>
            <a:ext cx="2517677" cy="338554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0">
                <a:solidFill>
                  <a:srgbClr val="222A35"/>
                </a:solidFill>
                <a:latin typeface="Comic Sans MS" panose="030F0702030302020204" pitchFamily="66" charset="0"/>
              </a:rPr>
              <a:t>välimuse järgi</a:t>
            </a:r>
            <a:r>
              <a:rPr sz="1200" b="0">
                <a:solidFill>
                  <a:srgbClr val="B2B2B2"/>
                </a:solidFill>
                <a:latin typeface="Comic Sans MS" panose="030F0702030302020204" pitchFamily="66" charset="0"/>
              </a:rPr>
              <a:t>  by appearance</a:t>
            </a:r>
          </a:p>
        </p:txBody>
      </p:sp>
      <p:sp>
        <p:nvSpPr>
          <p:cNvPr id="21" name="Oval 20"/>
          <p:cNvSpPr/>
          <p:nvPr/>
        </p:nvSpPr>
        <p:spPr>
          <a:xfrm>
            <a:off x="1016000" y="5918200"/>
            <a:ext cx="203200" cy="203200"/>
          </a:xfrm>
          <a:prstGeom prst="ellipse">
            <a:avLst/>
          </a:prstGeom>
          <a:solidFill>
            <a:srgbClr val="0E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omic Sans MS" panose="030F0702030302020204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95400" y="5842000"/>
            <a:ext cx="3065904" cy="338554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0">
                <a:solidFill>
                  <a:srgbClr val="222A35"/>
                </a:solidFill>
                <a:latin typeface="Comic Sans MS" panose="030F0702030302020204" pitchFamily="66" charset="0"/>
              </a:rPr>
              <a:t>päritolu järgi</a:t>
            </a:r>
            <a:r>
              <a:rPr sz="1200" b="0">
                <a:solidFill>
                  <a:srgbClr val="B2B2B2"/>
                </a:solidFill>
                <a:latin typeface="Comic Sans MS" panose="030F0702030302020204" pitchFamily="66" charset="0"/>
              </a:rPr>
              <a:t>  by where it came from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B1BE46-70C0-43DC-99FD-DCF941B0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8FD0B4-C8B5-49FA-9069-59F321B807B8}" type="slidenum">
              <a:rPr lang="ru-RU" smtClean="0">
                <a:latin typeface="Comic Sans MS" panose="030F0702030302020204" pitchFamily="66" charset="0"/>
              </a:rPr>
              <a:t>13</a:t>
            </a:fld>
            <a:endParaRPr lang="ru-RU" dirty="0">
              <a:latin typeface="Comic Sans MS" panose="030F0702030302020204" pitchFamily="66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65B527-B473-43C3-BCFE-67F4F8FF4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070" y="0"/>
            <a:ext cx="4953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518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F576701D-823A-4B7C-9DBB-1A581EA585C8}" vid="{1527F860-5020-4FF5-B725-5CC551FC35D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Tartu_template</Template>
  <TotalTime>1966</TotalTime>
  <Words>318</Words>
  <Application>Microsoft Office PowerPoint</Application>
  <PresentationFormat>Широкоэкранный</PresentationFormat>
  <Paragraphs>71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13</cp:revision>
  <dcterms:created xsi:type="dcterms:W3CDTF">2026-10-27T20:02:17Z</dcterms:created>
  <dcterms:modified xsi:type="dcterms:W3CDTF">2026-10-29T10:29:34Z</dcterms:modified>
</cp:coreProperties>
</file>